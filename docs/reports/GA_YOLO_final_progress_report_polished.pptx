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" d="100"/>
          <a:sy n="10" d="100"/>
        </p:scale>
        <p:origin x="873" y="-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4FD361D8-830E-43BE-9882-B0A8B21443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213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266700"/>
            <a:ext cx="419100" cy="4191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39824" y="266700"/>
            <a:ext cx="1961002" cy="4572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DB9AF40-0F67-422A-96A2-03DD2C040DE8}"/>
              </a:ext>
            </a:extLst>
          </p:cNvPr>
          <p:cNvSpPr>
            <a:spLocks noGrp="1"/>
          </p:cNvSpPr>
          <p:nvPr/>
        </p:nvSpPr>
        <p:spPr>
          <a:xfrm>
            <a:off x="971550" y="371475"/>
            <a:ext cx="409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8E7F7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D8E7F7"/>
                </a:solidFill>
                <a:latin typeface="Malgun Gothic"/>
                <a:ea typeface="Malgun Gothic"/>
                <a:cs typeface="Malgun Gothic"/>
              </a:rPr>
              <a:t>Ghost-Aware YOLO / FMCW RD Map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EE4C496-39BB-4EAB-87EE-5C4106B3CD61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11125200" cy="9525"/>
          </a:xfrm>
          <a:prstGeom prst="rect">
            <a:avLst/>
          </a:prstGeom>
          <a:solidFill>
            <a:srgbClr val="31506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AA57A6-435A-4B91-AAF7-52713ACA991C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95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BFD2E5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BFD2E5"/>
                </a:solidFill>
                <a:latin typeface="Malgun Gothic"/>
                <a:ea typeface="Malgun Gothic"/>
                <a:cs typeface="Malgun Gothic"/>
              </a:rPr>
              <a:t>SATECS RADAR LAB · Korea Aerospace University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41F2EBB-C52A-461F-A18F-7306B0069279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D8E7F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D8E7F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533400"/>
            <a:ext cx="723900" cy="7239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5621B199-51F2-4B71-8178-8DC63913EACB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6858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Ghost-Aware YOLO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019A034-792B-4FA1-A1E6-74FB056F1FC2}"/>
              </a:ext>
            </a:extLst>
          </p:cNvPr>
          <p:cNvSpPr>
            <a:spLocks noGrp="1"/>
          </p:cNvSpPr>
          <p:nvPr/>
        </p:nvSpPr>
        <p:spPr>
          <a:xfrm>
            <a:off x="647700" y="2428875"/>
            <a:ext cx="7810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D9E8F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D9E8F8"/>
                </a:solidFill>
                <a:latin typeface="Malgun Gothic"/>
                <a:ea typeface="Malgun Gothic"/>
                <a:cs typeface="Malgun Gothic"/>
              </a:rPr>
              <a:t>FMCW 자동차 레이더 RD map에서 real / ghost target을 직접 분류하는 경량 YOLO 탐지기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4F99962-F544-48DF-8229-96193CB5AB4F}"/>
              </a:ext>
            </a:extLst>
          </p:cNvPr>
          <p:cNvSpPr>
            <a:spLocks noGrp="1"/>
          </p:cNvSpPr>
          <p:nvPr/>
        </p:nvSpPr>
        <p:spPr>
          <a:xfrm>
            <a:off x="647700" y="3028950"/>
            <a:ext cx="723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BFD2E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BFD2E5"/>
                </a:solidFill>
                <a:latin typeface="Malgun Gothic"/>
                <a:ea typeface="Malgun Gothic"/>
                <a:cs typeface="Malgun Gothic"/>
              </a:rPr>
              <a:t>WSL /home/kmin/RD_YOLO_GHOST 최종 산출물까지 반영한 진행 보고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6D2914B-B2A1-4D65-8F54-A2193D55FE92}"/>
              </a:ext>
            </a:extLst>
          </p:cNvPr>
          <p:cNvSpPr>
            <a:spLocks noGrp="1"/>
          </p:cNvSpPr>
          <p:nvPr/>
        </p:nvSpPr>
        <p:spPr>
          <a:xfrm>
            <a:off x="647700" y="4629150"/>
            <a:ext cx="1428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3D6BDCE-8B0A-4A5D-A96C-612F3AD9E680}"/>
              </a:ext>
            </a:extLst>
          </p:cNvPr>
          <p:cNvSpPr>
            <a:spLocks noGrp="1"/>
          </p:cNvSpPr>
          <p:nvPr/>
        </p:nvSpPr>
        <p:spPr>
          <a:xfrm>
            <a:off x="781050" y="4733925"/>
            <a:ext cx="1162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E6BD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E6BD6"/>
                </a:solidFill>
                <a:latin typeface="Malgun Gothic"/>
                <a:ea typeface="Malgun Gothic"/>
                <a:cs typeface="Malgun Gothic"/>
              </a:rPr>
              <a:t>2000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281002D-BB2F-4D1D-890B-036CDA5F865A}"/>
              </a:ext>
            </a:extLst>
          </p:cNvPr>
          <p:cNvSpPr>
            <a:spLocks noGrp="1"/>
          </p:cNvSpPr>
          <p:nvPr/>
        </p:nvSpPr>
        <p:spPr>
          <a:xfrm>
            <a:off x="781050" y="5076825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synthetic scenes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689A4C0-BBDA-4836-A0AC-2F659EB7ACB2}"/>
              </a:ext>
            </a:extLst>
          </p:cNvPr>
          <p:cNvSpPr>
            <a:spLocks noGrp="1"/>
          </p:cNvSpPr>
          <p:nvPr/>
        </p:nvSpPr>
        <p:spPr>
          <a:xfrm>
            <a:off x="2286000" y="4629150"/>
            <a:ext cx="16192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F40B239-8440-46D5-B313-A95F8DFAF6A9}"/>
              </a:ext>
            </a:extLst>
          </p:cNvPr>
          <p:cNvSpPr>
            <a:spLocks noGrp="1"/>
          </p:cNvSpPr>
          <p:nvPr/>
        </p:nvSpPr>
        <p:spPr>
          <a:xfrm>
            <a:off x="2419350" y="4733925"/>
            <a:ext cx="1352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E6BD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E6BD6"/>
                </a:solidFill>
                <a:latin typeface="Malgun Gothic"/>
                <a:ea typeface="Malgun Gothic"/>
                <a:cs typeface="Malgun Gothic"/>
              </a:rPr>
              <a:t>0.963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1EF7782-05CE-42B1-8481-6628485E1EE3}"/>
              </a:ext>
            </a:extLst>
          </p:cNvPr>
          <p:cNvSpPr>
            <a:spLocks noGrp="1"/>
          </p:cNvSpPr>
          <p:nvPr/>
        </p:nvSpPr>
        <p:spPr>
          <a:xfrm>
            <a:off x="2419350" y="5076825"/>
            <a:ext cx="1352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V4.1 best mAP50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D0D74AE-6697-4B31-9A71-993B66DF7B7D}"/>
              </a:ext>
            </a:extLst>
          </p:cNvPr>
          <p:cNvSpPr>
            <a:spLocks noGrp="1"/>
          </p:cNvSpPr>
          <p:nvPr/>
        </p:nvSpPr>
        <p:spPr>
          <a:xfrm>
            <a:off x="4114800" y="4629150"/>
            <a:ext cx="17145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F408DA9-D8E1-4344-9891-14D002CC4E20}"/>
              </a:ext>
            </a:extLst>
          </p:cNvPr>
          <p:cNvSpPr>
            <a:spLocks noGrp="1"/>
          </p:cNvSpPr>
          <p:nvPr/>
        </p:nvSpPr>
        <p:spPr>
          <a:xfrm>
            <a:off x="4248150" y="4733925"/>
            <a:ext cx="1447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59A6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9A62"/>
                </a:solidFill>
                <a:latin typeface="Malgun Gothic"/>
                <a:ea typeface="Malgun Gothic"/>
                <a:cs typeface="Malgun Gothic"/>
              </a:rPr>
              <a:t>0.912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8AD92A9-A284-4E00-9027-903BA99BCF68}"/>
              </a:ext>
            </a:extLst>
          </p:cNvPr>
          <p:cNvSpPr>
            <a:spLocks noGrp="1"/>
          </p:cNvSpPr>
          <p:nvPr/>
        </p:nvSpPr>
        <p:spPr>
          <a:xfrm>
            <a:off x="4248150" y="5076825"/>
            <a:ext cx="1447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V4.1 best mAP50-95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7E2F7A9-2130-4D54-9DCA-23743B76D114}"/>
              </a:ext>
            </a:extLst>
          </p:cNvPr>
          <p:cNvSpPr>
            <a:spLocks noGrp="1"/>
          </p:cNvSpPr>
          <p:nvPr/>
        </p:nvSpPr>
        <p:spPr>
          <a:xfrm>
            <a:off x="6057900" y="4629150"/>
            <a:ext cx="1428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97B2A53-BCE9-4512-A8B5-C62BCFF8D77A}"/>
              </a:ext>
            </a:extLst>
          </p:cNvPr>
          <p:cNvSpPr>
            <a:spLocks noGrp="1"/>
          </p:cNvSpPr>
          <p:nvPr/>
        </p:nvSpPr>
        <p:spPr>
          <a:xfrm>
            <a:off x="6191250" y="4733925"/>
            <a:ext cx="1162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0A4C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A4CC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EDD789F-ED36-45B3-9C0F-6E6ADCFFF9E0}"/>
              </a:ext>
            </a:extLst>
          </p:cNvPr>
          <p:cNvSpPr>
            <a:spLocks noGrp="1"/>
          </p:cNvSpPr>
          <p:nvPr/>
        </p:nvSpPr>
        <p:spPr>
          <a:xfrm>
            <a:off x="6191250" y="5076825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CARRADA frames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C35FA02-033E-4D96-8476-8F56A1310D7C}"/>
              </a:ext>
            </a:extLst>
          </p:cNvPr>
          <p:cNvSpPr>
            <a:spLocks noGrp="1"/>
          </p:cNvSpPr>
          <p:nvPr/>
        </p:nvSpPr>
        <p:spPr>
          <a:xfrm>
            <a:off x="8248650" y="1390650"/>
            <a:ext cx="3124200" cy="3124200"/>
          </a:xfrm>
          <a:prstGeom prst="rect">
            <a:avLst/>
          </a:prstGeom>
          <a:solidFill>
            <a:srgbClr val="102E52"/>
          </a:solidFill>
          <a:ln w="9525">
            <a:solidFill>
              <a:srgbClr val="3156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286750" y="2476500"/>
            <a:ext cx="30480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49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6962EC21-D0F9-4982-836A-41FB60F807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266700"/>
            <a:ext cx="419100" cy="4191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39824" y="266700"/>
            <a:ext cx="1961002" cy="4572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75C661A-F389-45BF-BBD4-769AE700BA13}"/>
              </a:ext>
            </a:extLst>
          </p:cNvPr>
          <p:cNvSpPr>
            <a:spLocks noGrp="1"/>
          </p:cNvSpPr>
          <p:nvPr/>
        </p:nvSpPr>
        <p:spPr>
          <a:xfrm>
            <a:off x="971550" y="371475"/>
            <a:ext cx="409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Ghost-Aware YOLO / FMCW RD Map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BA8AD7A-7003-4F05-B8DC-86057D67CE38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11125200" cy="9525"/>
          </a:xfrm>
          <a:prstGeom prst="rect">
            <a:avLst/>
          </a:prstGeom>
          <a:solidFill>
            <a:srgbClr val="CAD7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1CB7146-4D59-4B0B-B79C-85EC8459CFD0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95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SATECS RADAR LAB · Korea Aerospace University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F5DB8E4-AEDF-43C9-B96C-3C4B2A6C4DB1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3C87852-F2AA-4C71-A611-ADBDD69B19C9}"/>
              </a:ext>
            </a:extLst>
          </p:cNvPr>
          <p:cNvSpPr>
            <a:spLocks noGrp="1"/>
          </p:cNvSpPr>
          <p:nvPr/>
        </p:nvSpPr>
        <p:spPr>
          <a:xfrm>
            <a:off x="590550" y="952500"/>
            <a:ext cx="85725" cy="8572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B6823F-191A-4522-9AB9-3ADD225482CC}"/>
              </a:ext>
            </a:extLst>
          </p:cNvPr>
          <p:cNvSpPr>
            <a:spLocks noGrp="1"/>
          </p:cNvSpPr>
          <p:nvPr/>
        </p:nvSpPr>
        <p:spPr>
          <a:xfrm>
            <a:off x="800100" y="895350"/>
            <a:ext cx="3619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SOURCE LEDGER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4223322-2727-4B2C-86B3-E6414ABA5BF0}"/>
              </a:ext>
            </a:extLst>
          </p:cNvPr>
          <p:cNvSpPr>
            <a:spLocks noGrp="1"/>
          </p:cNvSpPr>
          <p:nvPr/>
        </p:nvSpPr>
        <p:spPr>
          <a:xfrm>
            <a:off x="590550" y="1181100"/>
            <a:ext cx="9906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Windows와 WSL 루트를 모두 확인해 최종 산출물 기준으로 정리했다.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7AEDA65-F0E8-4B2F-B878-D25336F19CA3}"/>
              </a:ext>
            </a:extLst>
          </p:cNvPr>
          <p:cNvSpPr>
            <a:spLocks noGrp="1"/>
          </p:cNvSpPr>
          <p:nvPr/>
        </p:nvSpPr>
        <p:spPr>
          <a:xfrm>
            <a:off x="742950" y="2400300"/>
            <a:ext cx="66675" cy="6667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3BECEBA-9332-4E0D-BC09-66A36585AD00}"/>
              </a:ext>
            </a:extLst>
          </p:cNvPr>
          <p:cNvSpPr>
            <a:spLocks noGrp="1"/>
          </p:cNvSpPr>
          <p:nvPr/>
        </p:nvSpPr>
        <p:spPr>
          <a:xfrm>
            <a:off x="933450" y="2333625"/>
            <a:ext cx="7620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Windows root: D:\RD_YOLO_GHOST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82B3566-F1DB-4D7A-9D4F-B41D38813048}"/>
              </a:ext>
            </a:extLst>
          </p:cNvPr>
          <p:cNvSpPr>
            <a:spLocks noGrp="1"/>
          </p:cNvSpPr>
          <p:nvPr/>
        </p:nvSpPr>
        <p:spPr>
          <a:xfrm>
            <a:off x="742950" y="2819400"/>
            <a:ext cx="66675" cy="6667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90B46AB-B2F1-441D-96E1-63523C46968C}"/>
              </a:ext>
            </a:extLst>
          </p:cNvPr>
          <p:cNvSpPr>
            <a:spLocks noGrp="1"/>
          </p:cNvSpPr>
          <p:nvPr/>
        </p:nvSpPr>
        <p:spPr>
          <a:xfrm>
            <a:off x="933450" y="2752725"/>
            <a:ext cx="7620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WSL root: /home/kmin/RD_YOLO_GHOST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39D0967-5DD0-4212-98DF-91999AD86E51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66675" cy="6667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0EEC5C3-04CB-41D8-98F2-94DDAC4326D5}"/>
              </a:ext>
            </a:extLst>
          </p:cNvPr>
          <p:cNvSpPr>
            <a:spLocks noGrp="1"/>
          </p:cNvSpPr>
          <p:nvPr/>
        </p:nvSpPr>
        <p:spPr>
          <a:xfrm>
            <a:off x="933450" y="3171825"/>
            <a:ext cx="7620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WSL-only final outputs: dataset_v4_6_gray_bbox2, ga_yolo_v4_6_B_gray_n_bbox2, eval_v5_0_light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16BB02B-F1D1-4366-9FA3-247248567BA1}"/>
              </a:ext>
            </a:extLst>
          </p:cNvPr>
          <p:cNvSpPr>
            <a:spLocks noGrp="1"/>
          </p:cNvSpPr>
          <p:nvPr/>
        </p:nvSpPr>
        <p:spPr>
          <a:xfrm>
            <a:off x="742950" y="3657600"/>
            <a:ext cx="66675" cy="6667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D2530E3-8513-4DE5-9B56-71E950DD8B36}"/>
              </a:ext>
            </a:extLst>
          </p:cNvPr>
          <p:cNvSpPr>
            <a:spLocks noGrp="1"/>
          </p:cNvSpPr>
          <p:nvPr/>
        </p:nvSpPr>
        <p:spPr>
          <a:xfrm>
            <a:off x="933450" y="3590925"/>
            <a:ext cx="7620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V5.0-light는 WSL에서 직접 재실행해 콘솔 summary까지 확인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2FEA66B-2322-43C8-8806-45CA01E8A9BB}"/>
              </a:ext>
            </a:extLst>
          </p:cNvPr>
          <p:cNvSpPr>
            <a:spLocks noGrp="1"/>
          </p:cNvSpPr>
          <p:nvPr/>
        </p:nvSpPr>
        <p:spPr>
          <a:xfrm>
            <a:off x="8858250" y="2400300"/>
            <a:ext cx="17145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6837A5A-18B5-4AD7-A87B-E146C4D903FB}"/>
              </a:ext>
            </a:extLst>
          </p:cNvPr>
          <p:cNvSpPr>
            <a:spLocks noGrp="1"/>
          </p:cNvSpPr>
          <p:nvPr/>
        </p:nvSpPr>
        <p:spPr>
          <a:xfrm>
            <a:off x="8991600" y="2505075"/>
            <a:ext cx="1447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E6BD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E6BD6"/>
                </a:solidFill>
                <a:latin typeface="Malgun Gothic"/>
                <a:ea typeface="Malgun Gothic"/>
                <a:cs typeface="Malgun Gothic"/>
              </a:rPr>
              <a:t>75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FC99102-C022-4196-ADA6-AE971A7EBC1F}"/>
              </a:ext>
            </a:extLst>
          </p:cNvPr>
          <p:cNvSpPr>
            <a:spLocks noGrp="1"/>
          </p:cNvSpPr>
          <p:nvPr/>
        </p:nvSpPr>
        <p:spPr>
          <a:xfrm>
            <a:off x="8991600" y="2847975"/>
            <a:ext cx="1447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WSL final files copied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09DD5A7-D73F-4AB8-8855-6BCF16F7BC27}"/>
              </a:ext>
            </a:extLst>
          </p:cNvPr>
          <p:cNvSpPr>
            <a:spLocks noGrp="1"/>
          </p:cNvSpPr>
          <p:nvPr/>
        </p:nvSpPr>
        <p:spPr>
          <a:xfrm>
            <a:off x="8858250" y="3409950"/>
            <a:ext cx="17145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A1F4C07-BC19-4F59-A294-62AD9A245409}"/>
              </a:ext>
            </a:extLst>
          </p:cNvPr>
          <p:cNvSpPr>
            <a:spLocks noGrp="1"/>
          </p:cNvSpPr>
          <p:nvPr/>
        </p:nvSpPr>
        <p:spPr>
          <a:xfrm>
            <a:off x="8991600" y="3514725"/>
            <a:ext cx="1447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59A6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9A62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0C14308-9258-43CA-A137-AC87DA574F1E}"/>
              </a:ext>
            </a:extLst>
          </p:cNvPr>
          <p:cNvSpPr>
            <a:spLocks noGrp="1"/>
          </p:cNvSpPr>
          <p:nvPr/>
        </p:nvSpPr>
        <p:spPr>
          <a:xfrm>
            <a:off x="8991600" y="3857625"/>
            <a:ext cx="1447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CARRADA sequences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7785D47-DDF3-4295-8B3B-A5556835AF33}"/>
              </a:ext>
            </a:extLst>
          </p:cNvPr>
          <p:cNvSpPr>
            <a:spLocks noGrp="1"/>
          </p:cNvSpPr>
          <p:nvPr/>
        </p:nvSpPr>
        <p:spPr>
          <a:xfrm>
            <a:off x="8858250" y="4419600"/>
            <a:ext cx="17145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4F9820F-8485-4A8E-8B39-900CCC7AC513}"/>
              </a:ext>
            </a:extLst>
          </p:cNvPr>
          <p:cNvSpPr>
            <a:spLocks noGrp="1"/>
          </p:cNvSpPr>
          <p:nvPr/>
        </p:nvSpPr>
        <p:spPr>
          <a:xfrm>
            <a:off x="8991600" y="4524375"/>
            <a:ext cx="1447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59A6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9A62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8A638B3-DFF4-495A-B9D0-F35D1FF552CD}"/>
              </a:ext>
            </a:extLst>
          </p:cNvPr>
          <p:cNvSpPr>
            <a:spLocks noGrp="1"/>
          </p:cNvSpPr>
          <p:nvPr/>
        </p:nvSpPr>
        <p:spPr>
          <a:xfrm>
            <a:off x="8991600" y="4867275"/>
            <a:ext cx="1447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empty PPT media</a:t>
            </a:r>
          </a:p>
        </p:txBody>
      </p:sp>
    </p:spTree>
    <p:extLst>
      <p:ext uri="{BB962C8B-B14F-4D97-AF65-F5344CB8AC3E}">
        <p14:creationId xmlns:p14="http://schemas.microsoft.com/office/powerpoint/2010/main" val="1164099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B36BA3F2-D4E5-4756-97B3-15D25FD5F2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266700"/>
            <a:ext cx="419100" cy="4191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39824" y="266700"/>
            <a:ext cx="1961002" cy="4572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E99D4C6E-4DC4-4AC4-B72C-950699AAAF18}"/>
              </a:ext>
            </a:extLst>
          </p:cNvPr>
          <p:cNvSpPr>
            <a:spLocks noGrp="1"/>
          </p:cNvSpPr>
          <p:nvPr/>
        </p:nvSpPr>
        <p:spPr>
          <a:xfrm>
            <a:off x="971550" y="371475"/>
            <a:ext cx="409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Ghost-Aware YOLO / FMCW RD Map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3D2B16C-F6A8-441F-9409-CDF2E38CFAE9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11125200" cy="9525"/>
          </a:xfrm>
          <a:prstGeom prst="rect">
            <a:avLst/>
          </a:prstGeom>
          <a:solidFill>
            <a:srgbClr val="CAD7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F1364F0-21B8-4149-A978-467C61C3CA30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95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SATECS RADAR LAB · Korea Aerospace University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C956F76-5C3B-43C8-A268-012EAA478041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2667811-E2DB-41D8-B847-B43128AAFA12}"/>
              </a:ext>
            </a:extLst>
          </p:cNvPr>
          <p:cNvSpPr>
            <a:spLocks noGrp="1"/>
          </p:cNvSpPr>
          <p:nvPr/>
        </p:nvSpPr>
        <p:spPr>
          <a:xfrm>
            <a:off x="590550" y="952500"/>
            <a:ext cx="85725" cy="8572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6874FF8-E9FA-47DF-951C-73A9C82214D8}"/>
              </a:ext>
            </a:extLst>
          </p:cNvPr>
          <p:cNvSpPr>
            <a:spLocks noGrp="1"/>
          </p:cNvSpPr>
          <p:nvPr/>
        </p:nvSpPr>
        <p:spPr>
          <a:xfrm>
            <a:off x="800100" y="895350"/>
            <a:ext cx="3619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RESEARCH THESIS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56326B4-49E5-4A97-90AA-8B1F1D3F3446}"/>
              </a:ext>
            </a:extLst>
          </p:cNvPr>
          <p:cNvSpPr>
            <a:spLocks noGrp="1"/>
          </p:cNvSpPr>
          <p:nvPr/>
        </p:nvSpPr>
        <p:spPr>
          <a:xfrm>
            <a:off x="590550" y="1181100"/>
            <a:ext cx="9906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Ghost 제거를 후처리 문제가 아니라 RD map 탐지 문제로 앞당긴다.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657429A-0D37-4E4A-A9F2-20DCB2055E74}"/>
              </a:ext>
            </a:extLst>
          </p:cNvPr>
          <p:cNvSpPr>
            <a:spLocks noGrp="1"/>
          </p:cNvSpPr>
          <p:nvPr/>
        </p:nvSpPr>
        <p:spPr>
          <a:xfrm>
            <a:off x="666750" y="2447925"/>
            <a:ext cx="66675" cy="6667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D3AFB42-7022-42C1-A1B5-0D97650A0320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523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RD map 단계에서 real / ghost target 직접 분류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42ACECD-7E4F-423F-B68E-E62A23BB1E40}"/>
              </a:ext>
            </a:extLst>
          </p:cNvPr>
          <p:cNvSpPr>
            <a:spLocks noGrp="1"/>
          </p:cNvSpPr>
          <p:nvPr/>
        </p:nvSpPr>
        <p:spPr>
          <a:xfrm>
            <a:off x="666750" y="2867025"/>
            <a:ext cx="66675" cy="6667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662C7A2-F1EC-4786-B40E-68E03D65C401}"/>
              </a:ext>
            </a:extLst>
          </p:cNvPr>
          <p:cNvSpPr>
            <a:spLocks noGrp="1"/>
          </p:cNvSpPr>
          <p:nvPr/>
        </p:nvSpPr>
        <p:spPr>
          <a:xfrm>
            <a:off x="857250" y="2800350"/>
            <a:ext cx="523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공개 ghost label 부족 문제를 물리 기반 시뮬레이터로 우회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C1AA67D-E807-4695-8BF9-86F6684A0E40}"/>
              </a:ext>
            </a:extLst>
          </p:cNvPr>
          <p:cNvSpPr>
            <a:spLocks noGrp="1"/>
          </p:cNvSpPr>
          <p:nvPr/>
        </p:nvSpPr>
        <p:spPr>
          <a:xfrm>
            <a:off x="666750" y="3286125"/>
            <a:ext cx="66675" cy="6667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ED1DEEA-B4D6-461B-84B2-4F865DBB633D}"/>
              </a:ext>
            </a:extLst>
          </p:cNvPr>
          <p:cNvSpPr>
            <a:spLocks noGrp="1"/>
          </p:cNvSpPr>
          <p:nvPr/>
        </p:nvSpPr>
        <p:spPr>
          <a:xfrm>
            <a:off x="857250" y="3219450"/>
            <a:ext cx="523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좋은 수치보다 물리적으로 맞는 peak와 실패 scene 기록을 우선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4385D24-9BDE-4D8A-9CBF-161CBABEC2B0}"/>
              </a:ext>
            </a:extLst>
          </p:cNvPr>
          <p:cNvSpPr>
            <a:spLocks noGrp="1"/>
          </p:cNvSpPr>
          <p:nvPr/>
        </p:nvSpPr>
        <p:spPr>
          <a:xfrm>
            <a:off x="6524625" y="3000375"/>
            <a:ext cx="685800" cy="685800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F6288EB-94B8-4B80-AEE9-A61F99F2CD57}"/>
              </a:ext>
            </a:extLst>
          </p:cNvPr>
          <p:cNvSpPr>
            <a:spLocks noGrp="1"/>
          </p:cNvSpPr>
          <p:nvPr/>
        </p:nvSpPr>
        <p:spPr>
          <a:xfrm>
            <a:off x="6600825" y="32194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FMCW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B8916C6-930D-46FD-AB1B-08E569B1CFBE}"/>
              </a:ext>
            </a:extLst>
          </p:cNvPr>
          <p:cNvSpPr>
            <a:spLocks noGrp="1"/>
          </p:cNvSpPr>
          <p:nvPr/>
        </p:nvSpPr>
        <p:spPr>
          <a:xfrm>
            <a:off x="7267575" y="3333750"/>
            <a:ext cx="228600" cy="19050"/>
          </a:xfrm>
          <a:prstGeom prst="rect">
            <a:avLst/>
          </a:prstGeom>
          <a:solidFill>
            <a:srgbClr val="CAD7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09425C1-422F-4D89-924D-7FD66FC41E1C}"/>
              </a:ext>
            </a:extLst>
          </p:cNvPr>
          <p:cNvSpPr>
            <a:spLocks noGrp="1"/>
          </p:cNvSpPr>
          <p:nvPr/>
        </p:nvSpPr>
        <p:spPr>
          <a:xfrm>
            <a:off x="7419975" y="3000375"/>
            <a:ext cx="685800" cy="685800"/>
          </a:xfrm>
          <a:prstGeom prst="rect">
            <a:avLst/>
          </a:prstGeom>
          <a:solidFill>
            <a:srgbClr val="00A4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D1AAB03-CDA1-414B-B275-FA6E00E58C1D}"/>
              </a:ext>
            </a:extLst>
          </p:cNvPr>
          <p:cNvSpPr>
            <a:spLocks noGrp="1"/>
          </p:cNvSpPr>
          <p:nvPr/>
        </p:nvSpPr>
        <p:spPr>
          <a:xfrm>
            <a:off x="7496175" y="32194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Ghost sim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68966F0-F861-498D-AB0B-E1938D3143F1}"/>
              </a:ext>
            </a:extLst>
          </p:cNvPr>
          <p:cNvSpPr>
            <a:spLocks noGrp="1"/>
          </p:cNvSpPr>
          <p:nvPr/>
        </p:nvSpPr>
        <p:spPr>
          <a:xfrm>
            <a:off x="8162925" y="3333750"/>
            <a:ext cx="228600" cy="19050"/>
          </a:xfrm>
          <a:prstGeom prst="rect">
            <a:avLst/>
          </a:prstGeom>
          <a:solidFill>
            <a:srgbClr val="CAD7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8D140DD-A05C-4E42-BCBE-B6F4A0E128F0}"/>
              </a:ext>
            </a:extLst>
          </p:cNvPr>
          <p:cNvSpPr>
            <a:spLocks noGrp="1"/>
          </p:cNvSpPr>
          <p:nvPr/>
        </p:nvSpPr>
        <p:spPr>
          <a:xfrm>
            <a:off x="8315325" y="3000375"/>
            <a:ext cx="685800" cy="685800"/>
          </a:xfrm>
          <a:prstGeom prst="rect">
            <a:avLst/>
          </a:prstGeom>
          <a:solidFill>
            <a:srgbClr val="F08A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680ECAF-5CBC-4E40-A667-5022A992348C}"/>
              </a:ext>
            </a:extLst>
          </p:cNvPr>
          <p:cNvSpPr>
            <a:spLocks noGrp="1"/>
          </p:cNvSpPr>
          <p:nvPr/>
        </p:nvSpPr>
        <p:spPr>
          <a:xfrm>
            <a:off x="8391525" y="32194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YOLO labels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2272476-2D3E-47CC-831E-189EA5609A8A}"/>
              </a:ext>
            </a:extLst>
          </p:cNvPr>
          <p:cNvSpPr>
            <a:spLocks noGrp="1"/>
          </p:cNvSpPr>
          <p:nvPr/>
        </p:nvSpPr>
        <p:spPr>
          <a:xfrm>
            <a:off x="9058275" y="3333750"/>
            <a:ext cx="228600" cy="19050"/>
          </a:xfrm>
          <a:prstGeom prst="rect">
            <a:avLst/>
          </a:prstGeom>
          <a:solidFill>
            <a:srgbClr val="CAD7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6D69C61-C1B3-4A17-9FEA-FE1B52123EAF}"/>
              </a:ext>
            </a:extLst>
          </p:cNvPr>
          <p:cNvSpPr>
            <a:spLocks noGrp="1"/>
          </p:cNvSpPr>
          <p:nvPr/>
        </p:nvSpPr>
        <p:spPr>
          <a:xfrm>
            <a:off x="9210675" y="3000375"/>
            <a:ext cx="685800" cy="685800"/>
          </a:xfrm>
          <a:prstGeom prst="rect">
            <a:avLst/>
          </a:prstGeom>
          <a:solidFill>
            <a:srgbClr val="159A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1D24D2D-268B-49EA-BCDC-4053901BEB6D}"/>
              </a:ext>
            </a:extLst>
          </p:cNvPr>
          <p:cNvSpPr>
            <a:spLocks noGrp="1"/>
          </p:cNvSpPr>
          <p:nvPr/>
        </p:nvSpPr>
        <p:spPr>
          <a:xfrm>
            <a:off x="9286875" y="32194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GA-YOLO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E64A9D1-323B-4222-8E38-7C76A2F8712D}"/>
              </a:ext>
            </a:extLst>
          </p:cNvPr>
          <p:cNvSpPr>
            <a:spLocks noGrp="1"/>
          </p:cNvSpPr>
          <p:nvPr/>
        </p:nvSpPr>
        <p:spPr>
          <a:xfrm>
            <a:off x="9953625" y="3333750"/>
            <a:ext cx="228600" cy="19050"/>
          </a:xfrm>
          <a:prstGeom prst="rect">
            <a:avLst/>
          </a:prstGeom>
          <a:solidFill>
            <a:srgbClr val="CAD7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072D691-24E6-4F36-8A91-4385A9949537}"/>
              </a:ext>
            </a:extLst>
          </p:cNvPr>
          <p:cNvSpPr>
            <a:spLocks noGrp="1"/>
          </p:cNvSpPr>
          <p:nvPr/>
        </p:nvSpPr>
        <p:spPr>
          <a:xfrm>
            <a:off x="10106025" y="3000375"/>
            <a:ext cx="685800" cy="685800"/>
          </a:xfrm>
          <a:prstGeom prst="rect">
            <a:avLst/>
          </a:prstGeom>
          <a:solidFill>
            <a:srgbClr val="6B5D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0FA6129-B4D9-489F-B275-EAC5C85251E3}"/>
              </a:ext>
            </a:extLst>
          </p:cNvPr>
          <p:cNvSpPr>
            <a:spLocks noGrp="1"/>
          </p:cNvSpPr>
          <p:nvPr/>
        </p:nvSpPr>
        <p:spPr>
          <a:xfrm>
            <a:off x="10182225" y="32194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Qual eval</a:t>
            </a:r>
          </a:p>
        </p:txBody>
      </p:sp>
    </p:spTree>
    <p:extLst>
      <p:ext uri="{BB962C8B-B14F-4D97-AF65-F5344CB8AC3E}">
        <p14:creationId xmlns:p14="http://schemas.microsoft.com/office/powerpoint/2010/main" val="1175451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FB7F6739-FC89-4646-82EC-AD7BDD7893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266700"/>
            <a:ext cx="419100" cy="4191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39824" y="266700"/>
            <a:ext cx="1961002" cy="4572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19783EC-6E11-43C7-8581-2BBF29CF8912}"/>
              </a:ext>
            </a:extLst>
          </p:cNvPr>
          <p:cNvSpPr>
            <a:spLocks noGrp="1"/>
          </p:cNvSpPr>
          <p:nvPr/>
        </p:nvSpPr>
        <p:spPr>
          <a:xfrm>
            <a:off x="971550" y="371475"/>
            <a:ext cx="409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Ghost-Aware YOLO / FMCW RD Map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EF782A7-5E1D-4056-8E1D-A3E6B1B009CC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11125200" cy="9525"/>
          </a:xfrm>
          <a:prstGeom prst="rect">
            <a:avLst/>
          </a:prstGeom>
          <a:solidFill>
            <a:srgbClr val="CAD7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5728407-C635-4665-A615-DDD41788DF4B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95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SATECS RADAR LAB · Korea Aerospace University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EEDF883-C3D5-4550-BA15-437A2798BBEA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03F6971-54E9-4E6D-803E-6760E7715D2E}"/>
              </a:ext>
            </a:extLst>
          </p:cNvPr>
          <p:cNvSpPr>
            <a:spLocks noGrp="1"/>
          </p:cNvSpPr>
          <p:nvPr/>
        </p:nvSpPr>
        <p:spPr>
          <a:xfrm>
            <a:off x="590550" y="952500"/>
            <a:ext cx="85725" cy="8572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357D5AC-E82F-432E-A583-02F6BB897ABA}"/>
              </a:ext>
            </a:extLst>
          </p:cNvPr>
          <p:cNvSpPr>
            <a:spLocks noGrp="1"/>
          </p:cNvSpPr>
          <p:nvPr/>
        </p:nvSpPr>
        <p:spPr>
          <a:xfrm>
            <a:off x="800100" y="895350"/>
            <a:ext cx="3619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V1.X SANITY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49657F5-3F1C-47F9-A400-538E66C940F0}"/>
              </a:ext>
            </a:extLst>
          </p:cNvPr>
          <p:cNvSpPr>
            <a:spLocks noGrp="1"/>
          </p:cNvSpPr>
          <p:nvPr/>
        </p:nvSpPr>
        <p:spPr>
          <a:xfrm>
            <a:off x="590550" y="1181100"/>
            <a:ext cx="9906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30 m, +10 m/s 표적 peak가 이론 range/velocity bin 근처에 놓이도록 모델을 고정했다.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3E9CFB3-FE98-4F56-B3EF-ACA5F7FE1A6C}"/>
              </a:ext>
            </a:extLst>
          </p:cNvPr>
          <p:cNvSpPr>
            <a:spLocks noGrp="1"/>
          </p:cNvSpPr>
          <p:nvPr/>
        </p:nvSpPr>
        <p:spPr>
          <a:xfrm>
            <a:off x="704850" y="2057400"/>
            <a:ext cx="5029200" cy="35052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rcRect t="3846" b="3846"/>
          <a:stretch>
            <a:fillRect/>
          </a:stretch>
        </p:blipFill>
        <p:spPr>
          <a:xfrm>
            <a:off x="742950" y="2095500"/>
            <a:ext cx="4953000" cy="342900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3B9BD879-033C-4B68-A269-41CC4B0E8C44}"/>
              </a:ext>
            </a:extLst>
          </p:cNvPr>
          <p:cNvSpPr>
            <a:spLocks noGrp="1"/>
          </p:cNvSpPr>
          <p:nvPr/>
        </p:nvSpPr>
        <p:spPr>
          <a:xfrm>
            <a:off x="6534150" y="2057400"/>
            <a:ext cx="4076700" cy="29337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6"/>
          <a:srcRect l="22500" r="22500"/>
          <a:stretch>
            <a:fillRect/>
          </a:stretch>
        </p:blipFill>
        <p:spPr>
          <a:xfrm>
            <a:off x="6572250" y="2095500"/>
            <a:ext cx="4000500" cy="285750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80392FB3-D559-44DE-9514-346C0E551339}"/>
              </a:ext>
            </a:extLst>
          </p:cNvPr>
          <p:cNvSpPr>
            <a:spLocks noGrp="1"/>
          </p:cNvSpPr>
          <p:nvPr/>
        </p:nvSpPr>
        <p:spPr>
          <a:xfrm>
            <a:off x="2190750" y="5657850"/>
            <a:ext cx="1619250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159A6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F7084EF-9E1D-4BBC-A6D5-ACA005998BA1}"/>
              </a:ext>
            </a:extLst>
          </p:cNvPr>
          <p:cNvSpPr>
            <a:spLocks noGrp="1"/>
          </p:cNvSpPr>
          <p:nvPr/>
        </p:nvSpPr>
        <p:spPr>
          <a:xfrm>
            <a:off x="2305050" y="5734050"/>
            <a:ext cx="13906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159A62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59A62"/>
                </a:solidFill>
                <a:latin typeface="Malgun Gothic"/>
                <a:ea typeface="Malgun Gothic"/>
                <a:cs typeface="Malgun Gothic"/>
              </a:rPr>
              <a:t>focus: target peak near +10 m/s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ED92D00-9D78-43FF-9FF4-4DAF248C30C0}"/>
              </a:ext>
            </a:extLst>
          </p:cNvPr>
          <p:cNvSpPr>
            <a:spLocks noGrp="1"/>
          </p:cNvSpPr>
          <p:nvPr/>
        </p:nvSpPr>
        <p:spPr>
          <a:xfrm>
            <a:off x="7667625" y="5143500"/>
            <a:ext cx="1619250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1E6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84C30D7-629E-4EC7-B4C8-8054D3FD3B02}"/>
              </a:ext>
            </a:extLst>
          </p:cNvPr>
          <p:cNvSpPr>
            <a:spLocks noGrp="1"/>
          </p:cNvSpPr>
          <p:nvPr/>
        </p:nvSpPr>
        <p:spPr>
          <a:xfrm>
            <a:off x="7781925" y="5219700"/>
            <a:ext cx="13906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1E6BD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E6BD6"/>
                </a:solidFill>
                <a:latin typeface="Malgun Gothic"/>
                <a:ea typeface="Malgun Gothic"/>
                <a:cs typeface="Malgun Gothic"/>
              </a:rPr>
              <a:t>focus: CFAR detections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DEFCF9C-F884-4EB8-A264-B741A3EDD77F}"/>
              </a:ext>
            </a:extLst>
          </p:cNvPr>
          <p:cNvSpPr>
            <a:spLocks noGrp="1"/>
          </p:cNvSpPr>
          <p:nvPr/>
        </p:nvSpPr>
        <p:spPr>
          <a:xfrm>
            <a:off x="1428750" y="5657850"/>
            <a:ext cx="1428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D9570A9-81C2-4F9A-B66E-686B6136FA96}"/>
              </a:ext>
            </a:extLst>
          </p:cNvPr>
          <p:cNvSpPr>
            <a:spLocks noGrp="1"/>
          </p:cNvSpPr>
          <p:nvPr/>
        </p:nvSpPr>
        <p:spPr>
          <a:xfrm>
            <a:off x="1562100" y="5762625"/>
            <a:ext cx="1162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E6BD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E6BD6"/>
                </a:solidFill>
                <a:latin typeface="Malgun Gothic"/>
                <a:ea typeface="Malgun Gothic"/>
                <a:cs typeface="Malgun Gothic"/>
              </a:rPr>
              <a:t>1.0 m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B18F3AB-6FB7-4B93-83F8-9313D77DA729}"/>
              </a:ext>
            </a:extLst>
          </p:cNvPr>
          <p:cNvSpPr>
            <a:spLocks noGrp="1"/>
          </p:cNvSpPr>
          <p:nvPr/>
        </p:nvSpPr>
        <p:spPr>
          <a:xfrm>
            <a:off x="1562100" y="6105525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range resolution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E52B205-9F39-439A-84FA-29B579E5E9E2}"/>
              </a:ext>
            </a:extLst>
          </p:cNvPr>
          <p:cNvSpPr>
            <a:spLocks noGrp="1"/>
          </p:cNvSpPr>
          <p:nvPr/>
        </p:nvSpPr>
        <p:spPr>
          <a:xfrm>
            <a:off x="3143250" y="5657850"/>
            <a:ext cx="1524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010667E-E8D5-4BF9-8846-4C204C1EA25A}"/>
              </a:ext>
            </a:extLst>
          </p:cNvPr>
          <p:cNvSpPr>
            <a:spLocks noGrp="1"/>
          </p:cNvSpPr>
          <p:nvPr/>
        </p:nvSpPr>
        <p:spPr>
          <a:xfrm>
            <a:off x="3276600" y="5762625"/>
            <a:ext cx="1257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E6BD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E6BD6"/>
                </a:solidFill>
                <a:latin typeface="Malgun Gothic"/>
                <a:ea typeface="Malgun Gothic"/>
                <a:cs typeface="Malgun Gothic"/>
              </a:rPr>
              <a:t>0.3 m/s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D5A6F4D-E199-4655-9E71-825B708DBE38}"/>
              </a:ext>
            </a:extLst>
          </p:cNvPr>
          <p:cNvSpPr>
            <a:spLocks noGrp="1"/>
          </p:cNvSpPr>
          <p:nvPr/>
        </p:nvSpPr>
        <p:spPr>
          <a:xfrm>
            <a:off x="3276600" y="6105525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velocity resolution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65BFF2D-EFCB-4CB6-95AA-00F4E69C3A51}"/>
              </a:ext>
            </a:extLst>
          </p:cNvPr>
          <p:cNvSpPr>
            <a:spLocks noGrp="1"/>
          </p:cNvSpPr>
          <p:nvPr/>
        </p:nvSpPr>
        <p:spPr>
          <a:xfrm>
            <a:off x="6572250" y="5657850"/>
            <a:ext cx="1428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827DD03-3D7A-4301-A5A4-D2EB6A087AC8}"/>
              </a:ext>
            </a:extLst>
          </p:cNvPr>
          <p:cNvSpPr>
            <a:spLocks noGrp="1"/>
          </p:cNvSpPr>
          <p:nvPr/>
        </p:nvSpPr>
        <p:spPr>
          <a:xfrm>
            <a:off x="6705600" y="5762625"/>
            <a:ext cx="1162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59A6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9A62"/>
                </a:solidFill>
                <a:latin typeface="Malgun Gothic"/>
                <a:ea typeface="Malgun Gothic"/>
                <a:cs typeface="Malgun Gothic"/>
              </a:rPr>
              <a:t>PASS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CBB0443-0025-4E48-9C37-81AB8FB13F33}"/>
              </a:ext>
            </a:extLst>
          </p:cNvPr>
          <p:cNvSpPr>
            <a:spLocks noGrp="1"/>
          </p:cNvSpPr>
          <p:nvPr/>
        </p:nvSpPr>
        <p:spPr>
          <a:xfrm>
            <a:off x="6705600" y="6105525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sanity check</a:t>
            </a:r>
          </a:p>
        </p:txBody>
      </p:sp>
    </p:spTree>
    <p:extLst>
      <p:ext uri="{BB962C8B-B14F-4D97-AF65-F5344CB8AC3E}">
        <p14:creationId xmlns:p14="http://schemas.microsoft.com/office/powerpoint/2010/main" val="1359578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78B7CDF7-AA3B-467C-855B-79685830BC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266700"/>
            <a:ext cx="419100" cy="4191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39824" y="266700"/>
            <a:ext cx="1961002" cy="4572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93A1E5CA-D161-4B1E-AF16-F4E437864569}"/>
              </a:ext>
            </a:extLst>
          </p:cNvPr>
          <p:cNvSpPr>
            <a:spLocks noGrp="1"/>
          </p:cNvSpPr>
          <p:nvPr/>
        </p:nvSpPr>
        <p:spPr>
          <a:xfrm>
            <a:off x="971550" y="371475"/>
            <a:ext cx="409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Ghost-Aware YOLO / FMCW RD Map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C3CA62B-3088-4507-BA4A-6D69BEC90652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11125200" cy="9525"/>
          </a:xfrm>
          <a:prstGeom prst="rect">
            <a:avLst/>
          </a:prstGeom>
          <a:solidFill>
            <a:srgbClr val="CAD7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FF0D96E-C8CE-4C65-A070-773AD407488D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95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SATECS RADAR LAB · Korea Aerospace University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B3D4EB0-B02D-415E-B4CF-A6F50957BC28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EABF53-91BD-48A9-B062-57AC6DE5CF33}"/>
              </a:ext>
            </a:extLst>
          </p:cNvPr>
          <p:cNvSpPr>
            <a:spLocks noGrp="1"/>
          </p:cNvSpPr>
          <p:nvPr/>
        </p:nvSpPr>
        <p:spPr>
          <a:xfrm>
            <a:off x="590550" y="952500"/>
            <a:ext cx="85725" cy="8572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469EBE2-BDA2-497B-92D3-21D2F6FE8E31}"/>
              </a:ext>
            </a:extLst>
          </p:cNvPr>
          <p:cNvSpPr>
            <a:spLocks noGrp="1"/>
          </p:cNvSpPr>
          <p:nvPr/>
        </p:nvSpPr>
        <p:spPr>
          <a:xfrm>
            <a:off x="800100" y="895350"/>
            <a:ext cx="3619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V2.X GHOST SIMULATION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27398EB-3EED-4F3C-8E7C-35A96412EFDE}"/>
              </a:ext>
            </a:extLst>
          </p:cNvPr>
          <p:cNvSpPr>
            <a:spLocks noGrp="1"/>
          </p:cNvSpPr>
          <p:nvPr/>
        </p:nvSpPr>
        <p:spPr>
          <a:xfrm>
            <a:off x="590550" y="1181100"/>
            <a:ext cx="9906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가드레일 반사와 clutter를 추가해 real / ghost / noise가 함께 보이는 RD map을 만들었다.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BF14A1A-80D0-48DE-ADE9-0DCB06DD5BAD}"/>
              </a:ext>
            </a:extLst>
          </p:cNvPr>
          <p:cNvSpPr>
            <a:spLocks noGrp="1"/>
          </p:cNvSpPr>
          <p:nvPr/>
        </p:nvSpPr>
        <p:spPr>
          <a:xfrm>
            <a:off x="609600" y="2057400"/>
            <a:ext cx="5886450" cy="37909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rcRect l="25561" r="25561"/>
          <a:stretch>
            <a:fillRect/>
          </a:stretch>
        </p:blipFill>
        <p:spPr>
          <a:xfrm>
            <a:off x="647700" y="2095500"/>
            <a:ext cx="5810250" cy="371475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62856CE1-730C-47D6-A829-CECCC6E68A80}"/>
              </a:ext>
            </a:extLst>
          </p:cNvPr>
          <p:cNvSpPr>
            <a:spLocks noGrp="1"/>
          </p:cNvSpPr>
          <p:nvPr/>
        </p:nvSpPr>
        <p:spPr>
          <a:xfrm>
            <a:off x="1095375" y="5905500"/>
            <a:ext cx="1619250" cy="30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159A6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348870D-7AF3-4E5C-95CB-B0203FA728F7}"/>
              </a:ext>
            </a:extLst>
          </p:cNvPr>
          <p:cNvSpPr>
            <a:spLocks noGrp="1"/>
          </p:cNvSpPr>
          <p:nvPr/>
        </p:nvSpPr>
        <p:spPr>
          <a:xfrm>
            <a:off x="1209675" y="5981700"/>
            <a:ext cx="13906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159A62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59A62"/>
                </a:solidFill>
                <a:latin typeface="Malgun Gothic"/>
                <a:ea typeface="Malgun Gothic"/>
                <a:cs typeface="Malgun Gothic"/>
              </a:rPr>
              <a:t>white/red detections = target families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A302698-0934-44F9-848F-A1317421D7B0}"/>
              </a:ext>
            </a:extLst>
          </p:cNvPr>
          <p:cNvSpPr>
            <a:spLocks noGrp="1"/>
          </p:cNvSpPr>
          <p:nvPr/>
        </p:nvSpPr>
        <p:spPr>
          <a:xfrm>
            <a:off x="7239000" y="2638425"/>
            <a:ext cx="66675" cy="6667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A70663F-1513-4799-9887-77FDC0EF3F88}"/>
              </a:ext>
            </a:extLst>
          </p:cNvPr>
          <p:cNvSpPr>
            <a:spLocks noGrp="1"/>
          </p:cNvSpPr>
          <p:nvPr/>
        </p:nvSpPr>
        <p:spPr>
          <a:xfrm>
            <a:off x="7429500" y="2571750"/>
            <a:ext cx="3524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Mirror ghost: 4-bounce, real보다 먼 range, 유사 Doppler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E73FD6F-7E7D-4A13-96A4-F5628F515C37}"/>
              </a:ext>
            </a:extLst>
          </p:cNvPr>
          <p:cNvSpPr>
            <a:spLocks noGrp="1"/>
          </p:cNvSpPr>
          <p:nvPr/>
        </p:nvSpPr>
        <p:spPr>
          <a:xfrm>
            <a:off x="7239000" y="3133725"/>
            <a:ext cx="66675" cy="6667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A12D6CD-B537-4F7B-AC05-CC5E050669A7}"/>
              </a:ext>
            </a:extLst>
          </p:cNvPr>
          <p:cNvSpPr>
            <a:spLocks noGrp="1"/>
          </p:cNvSpPr>
          <p:nvPr/>
        </p:nvSpPr>
        <p:spPr>
          <a:xfrm>
            <a:off x="7429500" y="3067050"/>
            <a:ext cx="3524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Multipath ghost: 3-bounce, range offset 위치에 출현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192A088-A027-4B54-87DD-11060E644C1E}"/>
              </a:ext>
            </a:extLst>
          </p:cNvPr>
          <p:cNvSpPr>
            <a:spLocks noGrp="1"/>
          </p:cNvSpPr>
          <p:nvPr/>
        </p:nvSpPr>
        <p:spPr>
          <a:xfrm>
            <a:off x="7239000" y="3629025"/>
            <a:ext cx="66675" cy="6667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3996E12-5D21-4202-B10C-935184377C88}"/>
              </a:ext>
            </a:extLst>
          </p:cNvPr>
          <p:cNvSpPr>
            <a:spLocks noGrp="1"/>
          </p:cNvSpPr>
          <p:nvPr/>
        </p:nvSpPr>
        <p:spPr>
          <a:xfrm>
            <a:off x="7429500" y="3562350"/>
            <a:ext cx="3524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Speckle/clutter와 zero-Doppler notch를 포함한 학습 장면 생성</a:t>
            </a:r>
          </a:p>
        </p:txBody>
      </p:sp>
    </p:spTree>
    <p:extLst>
      <p:ext uri="{BB962C8B-B14F-4D97-AF65-F5344CB8AC3E}">
        <p14:creationId xmlns:p14="http://schemas.microsoft.com/office/powerpoint/2010/main" val="664664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>
            <a:extLst>
              <a:ext uri="{FF2B5EF4-FFF2-40B4-BE49-F238E27FC236}">
                <a16:creationId xmlns:a16="http://schemas.microsoft.com/office/drawing/2014/main" id="{91DBCDDC-FC6D-4E86-BF46-F4BDC11762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266700"/>
            <a:ext cx="419100" cy="4191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39824" y="266700"/>
            <a:ext cx="1961002" cy="4572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8808926E-1221-40B0-97AD-E24B1EC7D72D}"/>
              </a:ext>
            </a:extLst>
          </p:cNvPr>
          <p:cNvSpPr>
            <a:spLocks noGrp="1"/>
          </p:cNvSpPr>
          <p:nvPr/>
        </p:nvSpPr>
        <p:spPr>
          <a:xfrm>
            <a:off x="971550" y="371475"/>
            <a:ext cx="409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Ghost-Aware YOLO / FMCW RD Map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FC3636B-9B72-4CCE-A26A-30278E58B679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11125200" cy="9525"/>
          </a:xfrm>
          <a:prstGeom prst="rect">
            <a:avLst/>
          </a:prstGeom>
          <a:solidFill>
            <a:srgbClr val="CAD7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E608FB-FB10-47E4-9D35-9222F9E00A1F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95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SATECS RADAR LAB · Korea Aerospace University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9D0DF31-AB05-4235-BD1E-6A5A1920856F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D5CDF3D-F82A-4D4E-BE85-45F7671B46C6}"/>
              </a:ext>
            </a:extLst>
          </p:cNvPr>
          <p:cNvSpPr>
            <a:spLocks noGrp="1"/>
          </p:cNvSpPr>
          <p:nvPr/>
        </p:nvSpPr>
        <p:spPr>
          <a:xfrm>
            <a:off x="590550" y="952500"/>
            <a:ext cx="85725" cy="8572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F84321F-CB4B-4285-A378-816817207985}"/>
              </a:ext>
            </a:extLst>
          </p:cNvPr>
          <p:cNvSpPr>
            <a:spLocks noGrp="1"/>
          </p:cNvSpPr>
          <p:nvPr/>
        </p:nvSpPr>
        <p:spPr>
          <a:xfrm>
            <a:off x="800100" y="895350"/>
            <a:ext cx="3619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V3.0 DATASET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49E8E38-3B49-441C-9D2B-105E7AA11EA3}"/>
              </a:ext>
            </a:extLst>
          </p:cNvPr>
          <p:cNvSpPr>
            <a:spLocks noGrp="1"/>
          </p:cNvSpPr>
          <p:nvPr/>
        </p:nvSpPr>
        <p:spPr>
          <a:xfrm>
            <a:off x="590550" y="1181100"/>
            <a:ext cx="9906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YOLO 학습 데이터는 RD peak에 bbox를 snap해서 자동 생성했다.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CC2F010-0AA0-4CF3-8464-B06F245FE2B0}"/>
              </a:ext>
            </a:extLst>
          </p:cNvPr>
          <p:cNvSpPr>
            <a:spLocks noGrp="1"/>
          </p:cNvSpPr>
          <p:nvPr/>
        </p:nvSpPr>
        <p:spPr>
          <a:xfrm>
            <a:off x="676275" y="2152650"/>
            <a:ext cx="3790950" cy="34099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04875" y="2190750"/>
            <a:ext cx="3333750" cy="333375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46548BAD-4B44-49EB-B188-46E96D2CA46A}"/>
              </a:ext>
            </a:extLst>
          </p:cNvPr>
          <p:cNvSpPr>
            <a:spLocks noGrp="1"/>
          </p:cNvSpPr>
          <p:nvPr/>
        </p:nvSpPr>
        <p:spPr>
          <a:xfrm>
            <a:off x="5143500" y="2190750"/>
            <a:ext cx="5334000" cy="33337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3895D25-211D-476F-8E89-E065704E1280}"/>
              </a:ext>
            </a:extLst>
          </p:cNvPr>
          <p:cNvSpPr>
            <a:spLocks noGrp="1"/>
          </p:cNvSpPr>
          <p:nvPr/>
        </p:nvSpPr>
        <p:spPr>
          <a:xfrm>
            <a:off x="5524500" y="2476500"/>
            <a:ext cx="3143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dataset_v3_0b composition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D6A16FE-0AD3-4833-938E-8BE08D1CB32B}"/>
              </a:ext>
            </a:extLst>
          </p:cNvPr>
          <p:cNvSpPr>
            <a:spLocks noGrp="1"/>
          </p:cNvSpPr>
          <p:nvPr/>
        </p:nvSpPr>
        <p:spPr>
          <a:xfrm>
            <a:off x="5524500" y="3000375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train scenes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B736A5-977D-4622-B3D9-5A160513BE9E}"/>
              </a:ext>
            </a:extLst>
          </p:cNvPr>
          <p:cNvSpPr>
            <a:spLocks noGrp="1"/>
          </p:cNvSpPr>
          <p:nvPr/>
        </p:nvSpPr>
        <p:spPr>
          <a:xfrm>
            <a:off x="7429500" y="3038475"/>
            <a:ext cx="1524000" cy="114300"/>
          </a:xfrm>
          <a:prstGeom prst="rect">
            <a:avLst/>
          </a:prstGeom>
          <a:solidFill>
            <a:srgbClr val="E6EE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BD735CE-DC4B-4F2F-95F3-6C6C1D54EB5E}"/>
              </a:ext>
            </a:extLst>
          </p:cNvPr>
          <p:cNvSpPr>
            <a:spLocks noGrp="1"/>
          </p:cNvSpPr>
          <p:nvPr/>
        </p:nvSpPr>
        <p:spPr>
          <a:xfrm>
            <a:off x="7429500" y="3038475"/>
            <a:ext cx="1524000" cy="114300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642B1BD-0553-4615-9646-74FBD74DA6FF}"/>
              </a:ext>
            </a:extLst>
          </p:cNvPr>
          <p:cNvSpPr>
            <a:spLocks noGrp="1"/>
          </p:cNvSpPr>
          <p:nvPr/>
        </p:nvSpPr>
        <p:spPr>
          <a:xfrm>
            <a:off x="9048750" y="299085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88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1600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8616C94-2C71-4D07-A4D9-7D8ABC6AFD14}"/>
              </a:ext>
            </a:extLst>
          </p:cNvPr>
          <p:cNvSpPr>
            <a:spLocks noGrp="1"/>
          </p:cNvSpPr>
          <p:nvPr/>
        </p:nvSpPr>
        <p:spPr>
          <a:xfrm>
            <a:off x="5524500" y="342900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val scenes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EEE7AFC-D325-4639-B8C2-6CC37051FA78}"/>
              </a:ext>
            </a:extLst>
          </p:cNvPr>
          <p:cNvSpPr>
            <a:spLocks noGrp="1"/>
          </p:cNvSpPr>
          <p:nvPr/>
        </p:nvSpPr>
        <p:spPr>
          <a:xfrm>
            <a:off x="7429500" y="3467100"/>
            <a:ext cx="1524000" cy="114300"/>
          </a:xfrm>
          <a:prstGeom prst="rect">
            <a:avLst/>
          </a:prstGeom>
          <a:solidFill>
            <a:srgbClr val="E6EE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1DDC0BB-E8B9-49F4-AE91-9A1569B54D63}"/>
              </a:ext>
            </a:extLst>
          </p:cNvPr>
          <p:cNvSpPr>
            <a:spLocks noGrp="1"/>
          </p:cNvSpPr>
          <p:nvPr/>
        </p:nvSpPr>
        <p:spPr>
          <a:xfrm>
            <a:off x="7429500" y="3467100"/>
            <a:ext cx="190500" cy="114300"/>
          </a:xfrm>
          <a:prstGeom prst="rect">
            <a:avLst/>
          </a:prstGeom>
          <a:solidFill>
            <a:srgbClr val="00A4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6FFF230-FE06-4DF0-A1D5-6095D3377532}"/>
              </a:ext>
            </a:extLst>
          </p:cNvPr>
          <p:cNvSpPr>
            <a:spLocks noGrp="1"/>
          </p:cNvSpPr>
          <p:nvPr/>
        </p:nvSpPr>
        <p:spPr>
          <a:xfrm>
            <a:off x="9048750" y="3419475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88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200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40C3517-23B3-4A72-9CC4-16D1C725EB00}"/>
              </a:ext>
            </a:extLst>
          </p:cNvPr>
          <p:cNvSpPr>
            <a:spLocks noGrp="1"/>
          </p:cNvSpPr>
          <p:nvPr/>
        </p:nvSpPr>
        <p:spPr>
          <a:xfrm>
            <a:off x="5524500" y="3857625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test scenes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92ECD20-3078-4681-933A-483D7CA2365D}"/>
              </a:ext>
            </a:extLst>
          </p:cNvPr>
          <p:cNvSpPr>
            <a:spLocks noGrp="1"/>
          </p:cNvSpPr>
          <p:nvPr/>
        </p:nvSpPr>
        <p:spPr>
          <a:xfrm>
            <a:off x="7429500" y="3895725"/>
            <a:ext cx="1524000" cy="114300"/>
          </a:xfrm>
          <a:prstGeom prst="rect">
            <a:avLst/>
          </a:prstGeom>
          <a:solidFill>
            <a:srgbClr val="E6EE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56E6215-ACF2-4DF5-ADDF-D3DA6B640BC2}"/>
              </a:ext>
            </a:extLst>
          </p:cNvPr>
          <p:cNvSpPr>
            <a:spLocks noGrp="1"/>
          </p:cNvSpPr>
          <p:nvPr/>
        </p:nvSpPr>
        <p:spPr>
          <a:xfrm>
            <a:off x="7429500" y="3895725"/>
            <a:ext cx="190500" cy="114300"/>
          </a:xfrm>
          <a:prstGeom prst="rect">
            <a:avLst/>
          </a:prstGeom>
          <a:solidFill>
            <a:srgbClr val="00A4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F97D049-779F-4357-ABDD-D7EE21822BA4}"/>
              </a:ext>
            </a:extLst>
          </p:cNvPr>
          <p:cNvSpPr>
            <a:spLocks noGrp="1"/>
          </p:cNvSpPr>
          <p:nvPr/>
        </p:nvSpPr>
        <p:spPr>
          <a:xfrm>
            <a:off x="9048750" y="38481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88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200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0E2B4D2-4516-467F-8D45-D3C92D103F92}"/>
              </a:ext>
            </a:extLst>
          </p:cNvPr>
          <p:cNvSpPr>
            <a:spLocks noGrp="1"/>
          </p:cNvSpPr>
          <p:nvPr/>
        </p:nvSpPr>
        <p:spPr>
          <a:xfrm>
            <a:off x="5524500" y="445770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real targets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F13A611-95ED-4249-A57E-39387957EAA3}"/>
              </a:ext>
            </a:extLst>
          </p:cNvPr>
          <p:cNvSpPr>
            <a:spLocks noGrp="1"/>
          </p:cNvSpPr>
          <p:nvPr/>
        </p:nvSpPr>
        <p:spPr>
          <a:xfrm>
            <a:off x="7429500" y="4495800"/>
            <a:ext cx="1524000" cy="114300"/>
          </a:xfrm>
          <a:prstGeom prst="rect">
            <a:avLst/>
          </a:prstGeom>
          <a:solidFill>
            <a:srgbClr val="E6EE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952637C-0110-45D0-A7BF-B9B204C3ABCD}"/>
              </a:ext>
            </a:extLst>
          </p:cNvPr>
          <p:cNvSpPr>
            <a:spLocks noGrp="1"/>
          </p:cNvSpPr>
          <p:nvPr/>
        </p:nvSpPr>
        <p:spPr>
          <a:xfrm>
            <a:off x="7429500" y="4495800"/>
            <a:ext cx="1178313" cy="114300"/>
          </a:xfrm>
          <a:prstGeom prst="rect">
            <a:avLst/>
          </a:prstGeom>
          <a:solidFill>
            <a:srgbClr val="159A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2049F53-C744-43A4-A859-CB7FA8CE8EF9}"/>
              </a:ext>
            </a:extLst>
          </p:cNvPr>
          <p:cNvSpPr>
            <a:spLocks noGrp="1"/>
          </p:cNvSpPr>
          <p:nvPr/>
        </p:nvSpPr>
        <p:spPr>
          <a:xfrm>
            <a:off x="9048750" y="4448175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88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4588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884351E-0D19-4338-A5A4-131914C0301A}"/>
              </a:ext>
            </a:extLst>
          </p:cNvPr>
          <p:cNvSpPr>
            <a:spLocks noGrp="1"/>
          </p:cNvSpPr>
          <p:nvPr/>
        </p:nvSpPr>
        <p:spPr>
          <a:xfrm>
            <a:off x="5524500" y="4886325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ghost targets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1C87E4A-FF5C-4368-AC90-D694726A684D}"/>
              </a:ext>
            </a:extLst>
          </p:cNvPr>
          <p:cNvSpPr>
            <a:spLocks noGrp="1"/>
          </p:cNvSpPr>
          <p:nvPr/>
        </p:nvSpPr>
        <p:spPr>
          <a:xfrm>
            <a:off x="7429500" y="4924425"/>
            <a:ext cx="1524000" cy="114300"/>
          </a:xfrm>
          <a:prstGeom prst="rect">
            <a:avLst/>
          </a:prstGeom>
          <a:solidFill>
            <a:srgbClr val="E6EE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D8E4851-EF1D-479F-8C30-D8C078499433}"/>
              </a:ext>
            </a:extLst>
          </p:cNvPr>
          <p:cNvSpPr>
            <a:spLocks noGrp="1"/>
          </p:cNvSpPr>
          <p:nvPr/>
        </p:nvSpPr>
        <p:spPr>
          <a:xfrm>
            <a:off x="7429500" y="4924425"/>
            <a:ext cx="1524000" cy="114300"/>
          </a:xfrm>
          <a:prstGeom prst="rect">
            <a:avLst/>
          </a:prstGeom>
          <a:solidFill>
            <a:srgbClr val="F08A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C8FA8FB-D4CE-47CF-A5FD-941143AEED2D}"/>
              </a:ext>
            </a:extLst>
          </p:cNvPr>
          <p:cNvSpPr>
            <a:spLocks noGrp="1"/>
          </p:cNvSpPr>
          <p:nvPr/>
        </p:nvSpPr>
        <p:spPr>
          <a:xfrm>
            <a:off x="9048750" y="48768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88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5934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BA004B4-8B07-45B7-99D7-6CD1399758DF}"/>
              </a:ext>
            </a:extLst>
          </p:cNvPr>
          <p:cNvSpPr>
            <a:spLocks noGrp="1"/>
          </p:cNvSpPr>
          <p:nvPr/>
        </p:nvSpPr>
        <p:spPr>
          <a:xfrm>
            <a:off x="5524500" y="5286375"/>
            <a:ext cx="447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snap fallback = 0, ghost breakdown = 3-bounce 2967 / 4-bounce 2967</a:t>
            </a:r>
          </a:p>
        </p:txBody>
      </p:sp>
    </p:spTree>
    <p:extLst>
      <p:ext uri="{BB962C8B-B14F-4D97-AF65-F5344CB8AC3E}">
        <p14:creationId xmlns:p14="http://schemas.microsoft.com/office/powerpoint/2010/main" val="1099369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7FB945D9-1DE4-4D35-83E4-E4D6D6568F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266700"/>
            <a:ext cx="419100" cy="4191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39824" y="266700"/>
            <a:ext cx="1961002" cy="4572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9A19BDE-A3C3-4145-96D7-08ED68B1FAB9}"/>
              </a:ext>
            </a:extLst>
          </p:cNvPr>
          <p:cNvSpPr>
            <a:spLocks noGrp="1"/>
          </p:cNvSpPr>
          <p:nvPr/>
        </p:nvSpPr>
        <p:spPr>
          <a:xfrm>
            <a:off x="971550" y="371475"/>
            <a:ext cx="409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Ghost-Aware YOLO / FMCW RD Map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B9CC0A3-8D1C-40D2-910C-612E36830D64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11125200" cy="9525"/>
          </a:xfrm>
          <a:prstGeom prst="rect">
            <a:avLst/>
          </a:prstGeom>
          <a:solidFill>
            <a:srgbClr val="CAD7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62CC0F1-62A3-4C67-BD27-A63507C3B9E2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95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SATECS RADAR LAB · Korea Aerospace University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4F49C05-D3C6-4F5A-B0CB-50134508ED41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915613-DC5E-4B25-AC6B-9AF6544C4105}"/>
              </a:ext>
            </a:extLst>
          </p:cNvPr>
          <p:cNvSpPr>
            <a:spLocks noGrp="1"/>
          </p:cNvSpPr>
          <p:nvPr/>
        </p:nvSpPr>
        <p:spPr>
          <a:xfrm>
            <a:off x="590550" y="952500"/>
            <a:ext cx="85725" cy="8572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D92F47C-4385-4C44-846F-4043C631A730}"/>
              </a:ext>
            </a:extLst>
          </p:cNvPr>
          <p:cNvSpPr>
            <a:spLocks noGrp="1"/>
          </p:cNvSpPr>
          <p:nvPr/>
        </p:nvSpPr>
        <p:spPr>
          <a:xfrm>
            <a:off x="800100" y="895350"/>
            <a:ext cx="3619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V4.1 BEST MODEL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CA5948D-8B14-47FE-92F2-0E1C98C35B5E}"/>
              </a:ext>
            </a:extLst>
          </p:cNvPr>
          <p:cNvSpPr>
            <a:spLocks noGrp="1"/>
          </p:cNvSpPr>
          <p:nvPr/>
        </p:nvSpPr>
        <p:spPr>
          <a:xfrm>
            <a:off x="590550" y="1181100"/>
            <a:ext cx="9906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시뮬레이션 데이터 내에서는 grayscale + YOLOv8n이 정확도와 경량성의 균형점이었다.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E213C98-A423-4B2D-B2E4-3D78B1CEAF5D}"/>
              </a:ext>
            </a:extLst>
          </p:cNvPr>
          <p:cNvSpPr>
            <a:spLocks noGrp="1"/>
          </p:cNvSpPr>
          <p:nvPr/>
        </p:nvSpPr>
        <p:spPr>
          <a:xfrm>
            <a:off x="552450" y="2057400"/>
            <a:ext cx="5029200" cy="33147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rcRect l="11765" r="11765"/>
          <a:stretch>
            <a:fillRect/>
          </a:stretch>
        </p:blipFill>
        <p:spPr>
          <a:xfrm>
            <a:off x="590550" y="2095500"/>
            <a:ext cx="4953000" cy="323850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328E4380-702F-4881-91D3-845B08547EC8}"/>
              </a:ext>
            </a:extLst>
          </p:cNvPr>
          <p:cNvSpPr>
            <a:spLocks noGrp="1"/>
          </p:cNvSpPr>
          <p:nvPr/>
        </p:nvSpPr>
        <p:spPr>
          <a:xfrm>
            <a:off x="6153150" y="2057400"/>
            <a:ext cx="27432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191250" y="2428875"/>
            <a:ext cx="2667000" cy="200025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FA40784E-4D12-4700-997B-74FF63E714F6}"/>
              </a:ext>
            </a:extLst>
          </p:cNvPr>
          <p:cNvSpPr>
            <a:spLocks noGrp="1"/>
          </p:cNvSpPr>
          <p:nvPr/>
        </p:nvSpPr>
        <p:spPr>
          <a:xfrm>
            <a:off x="6191250" y="5095875"/>
            <a:ext cx="1428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5A2433B-B441-4BF5-9C57-7B00A0E7FB68}"/>
              </a:ext>
            </a:extLst>
          </p:cNvPr>
          <p:cNvSpPr>
            <a:spLocks noGrp="1"/>
          </p:cNvSpPr>
          <p:nvPr/>
        </p:nvSpPr>
        <p:spPr>
          <a:xfrm>
            <a:off x="6324600" y="5200650"/>
            <a:ext cx="1162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3.0M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27DEE57-12A4-4D3F-9361-0B923A56153D}"/>
              </a:ext>
            </a:extLst>
          </p:cNvPr>
          <p:cNvSpPr>
            <a:spLocks noGrp="1"/>
          </p:cNvSpPr>
          <p:nvPr/>
        </p:nvSpPr>
        <p:spPr>
          <a:xfrm>
            <a:off x="6324600" y="554355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YOLOv8n params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85778E5-3A5F-497D-95B1-EEE76C68258F}"/>
              </a:ext>
            </a:extLst>
          </p:cNvPr>
          <p:cNvSpPr>
            <a:spLocks noGrp="1"/>
          </p:cNvSpPr>
          <p:nvPr/>
        </p:nvSpPr>
        <p:spPr>
          <a:xfrm>
            <a:off x="7905750" y="5095875"/>
            <a:ext cx="1428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19F5A89-DA2F-406A-8A09-0E09AA21B5BD}"/>
              </a:ext>
            </a:extLst>
          </p:cNvPr>
          <p:cNvSpPr>
            <a:spLocks noGrp="1"/>
          </p:cNvSpPr>
          <p:nvPr/>
        </p:nvSpPr>
        <p:spPr>
          <a:xfrm>
            <a:off x="8039100" y="5200650"/>
            <a:ext cx="1162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E6BD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E6BD6"/>
                </a:solidFill>
                <a:latin typeface="Malgun Gothic"/>
                <a:ea typeface="Malgun Gothic"/>
                <a:cs typeface="Malgun Gothic"/>
              </a:rPr>
              <a:t>0.963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B94D1E4-2CFB-4AE8-8F15-762425CD1C0E}"/>
              </a:ext>
            </a:extLst>
          </p:cNvPr>
          <p:cNvSpPr>
            <a:spLocks noGrp="1"/>
          </p:cNvSpPr>
          <p:nvPr/>
        </p:nvSpPr>
        <p:spPr>
          <a:xfrm>
            <a:off x="8039100" y="554355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sim mAP50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34B829F-ED1B-4440-94F1-A0C2CA005225}"/>
              </a:ext>
            </a:extLst>
          </p:cNvPr>
          <p:cNvSpPr>
            <a:spLocks noGrp="1"/>
          </p:cNvSpPr>
          <p:nvPr/>
        </p:nvSpPr>
        <p:spPr>
          <a:xfrm>
            <a:off x="9620250" y="5095875"/>
            <a:ext cx="1428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89AD922-4DA1-4FA6-A636-0B6E5F17FB35}"/>
              </a:ext>
            </a:extLst>
          </p:cNvPr>
          <p:cNvSpPr>
            <a:spLocks noGrp="1"/>
          </p:cNvSpPr>
          <p:nvPr/>
        </p:nvSpPr>
        <p:spPr>
          <a:xfrm>
            <a:off x="9753600" y="5200650"/>
            <a:ext cx="1162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59A6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9A62"/>
                </a:solidFill>
                <a:latin typeface="Malgun Gothic"/>
                <a:ea typeface="Malgun Gothic"/>
                <a:cs typeface="Malgun Gothic"/>
              </a:rPr>
              <a:t>0.912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330A0BE-F5FF-4D55-BB32-9AA978DFE0C7}"/>
              </a:ext>
            </a:extLst>
          </p:cNvPr>
          <p:cNvSpPr>
            <a:spLocks noGrp="1"/>
          </p:cNvSpPr>
          <p:nvPr/>
        </p:nvSpPr>
        <p:spPr>
          <a:xfrm>
            <a:off x="9753600" y="554355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sim mAP50-95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DA31482-E13C-443D-8541-2E2815448634}"/>
              </a:ext>
            </a:extLst>
          </p:cNvPr>
          <p:cNvSpPr>
            <a:spLocks noGrp="1"/>
          </p:cNvSpPr>
          <p:nvPr/>
        </p:nvSpPr>
        <p:spPr>
          <a:xfrm>
            <a:off x="590550" y="5619750"/>
            <a:ext cx="742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주의: 이 수치는 simulator split 기준이며, 실제 CARRADA 전이 성능으로 해석하지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519282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39CA7671-3C08-42AD-B254-F4CDC9FEDF34}"/>
              </a:ext>
            </a:extLst>
          </p:cNvPr>
          <p:cNvSpPr>
            <a:spLocks noGrp="1"/>
          </p:cNvSpPr>
          <p:nvPr/>
        </p:nvSpPr>
        <p:spPr>
          <a:xfrm>
            <a:off x="11206" y="19050"/>
            <a:ext cx="12192000" cy="6858000"/>
          </a:xfrm>
          <a:prstGeom prst="rect">
            <a:avLst/>
          </a:prstGeom>
          <a:solidFill>
            <a:srgbClr val="F6F9F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266700"/>
            <a:ext cx="419100" cy="4191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39824" y="266700"/>
            <a:ext cx="1961002" cy="4572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9C16DD1A-E377-4034-A76D-A55BB70EDB98}"/>
              </a:ext>
            </a:extLst>
          </p:cNvPr>
          <p:cNvSpPr>
            <a:spLocks noGrp="1"/>
          </p:cNvSpPr>
          <p:nvPr/>
        </p:nvSpPr>
        <p:spPr>
          <a:xfrm>
            <a:off x="971550" y="371475"/>
            <a:ext cx="409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Ghost-Aware YOLO / FMCW RD Map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A4CA1CE-1BB2-4EC6-B620-ABAB05995EBF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11125200" cy="9525"/>
          </a:xfrm>
          <a:prstGeom prst="rect">
            <a:avLst/>
          </a:prstGeom>
          <a:solidFill>
            <a:srgbClr val="CAD7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AF7A93C-A29A-4187-BD0F-2F27252D56DD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95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SATECS RADAR LAB · Korea Aerospace University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89A20FD-5063-418E-A110-559A66358581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9014171-4388-4A9A-A639-8CC080A8AD8C}"/>
              </a:ext>
            </a:extLst>
          </p:cNvPr>
          <p:cNvSpPr>
            <a:spLocks noGrp="1"/>
          </p:cNvSpPr>
          <p:nvPr/>
        </p:nvSpPr>
        <p:spPr>
          <a:xfrm>
            <a:off x="800100" y="895350"/>
            <a:ext cx="3619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V4.2 QUALITATIVE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B8255B8-AE94-43ED-8135-3EB9B5415F85}"/>
              </a:ext>
            </a:extLst>
          </p:cNvPr>
          <p:cNvSpPr>
            <a:spLocks noGrp="1"/>
          </p:cNvSpPr>
          <p:nvPr/>
        </p:nvSpPr>
        <p:spPr>
          <a:xfrm>
            <a:off x="800100" y="561975"/>
            <a:ext cx="9906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dirty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200개 test scene 중 163개는 </a:t>
            </a:r>
            <a:r>
              <a:rPr sz="2100" b="1" dirty="0" err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모든</a:t>
            </a:r>
            <a:r>
              <a:rPr sz="2100" b="1" dirty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 real/ghost </a:t>
            </a:r>
            <a:r>
              <a:rPr sz="2100" b="1" dirty="0" err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peak를</a:t>
            </a:r>
            <a:r>
              <a:rPr sz="2100" b="1" dirty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1" dirty="0" err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정상</a:t>
            </a:r>
            <a:r>
              <a:rPr sz="2100" b="1" dirty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1" dirty="0" err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포착했다</a:t>
            </a:r>
            <a:r>
              <a:rPr sz="2100" b="1" dirty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6563173-4D19-41B1-B09B-A21F5FF388FD}"/>
              </a:ext>
            </a:extLst>
          </p:cNvPr>
          <p:cNvSpPr>
            <a:spLocks noGrp="1"/>
          </p:cNvSpPr>
          <p:nvPr/>
        </p:nvSpPr>
        <p:spPr>
          <a:xfrm>
            <a:off x="609600" y="1514475"/>
            <a:ext cx="5981700" cy="37909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rcRect t="34274" b="34274"/>
          <a:stretch>
            <a:fillRect/>
          </a:stretch>
        </p:blipFill>
        <p:spPr>
          <a:xfrm>
            <a:off x="85725" y="1047750"/>
            <a:ext cx="7134800" cy="4488019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1626338E-C753-4279-880C-740FFC394B54}"/>
              </a:ext>
            </a:extLst>
          </p:cNvPr>
          <p:cNvSpPr>
            <a:spLocks noGrp="1"/>
          </p:cNvSpPr>
          <p:nvPr/>
        </p:nvSpPr>
        <p:spPr>
          <a:xfrm>
            <a:off x="7429500" y="2381250"/>
            <a:ext cx="1428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F7EDEB9-49CA-4C86-8036-74A502B93190}"/>
              </a:ext>
            </a:extLst>
          </p:cNvPr>
          <p:cNvSpPr>
            <a:spLocks noGrp="1"/>
          </p:cNvSpPr>
          <p:nvPr/>
        </p:nvSpPr>
        <p:spPr>
          <a:xfrm>
            <a:off x="7562850" y="2486025"/>
            <a:ext cx="1162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59A6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9A62"/>
                </a:solidFill>
                <a:latin typeface="Malgun Gothic"/>
                <a:ea typeface="Malgun Gothic"/>
                <a:cs typeface="Malgun Gothic"/>
              </a:rPr>
              <a:t>163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EF4519C-D562-4CA9-BC6A-3F07CE431A0C}"/>
              </a:ext>
            </a:extLst>
          </p:cNvPr>
          <p:cNvSpPr>
            <a:spLocks noGrp="1"/>
          </p:cNvSpPr>
          <p:nvPr/>
        </p:nvSpPr>
        <p:spPr>
          <a:xfrm>
            <a:off x="7562850" y="2917172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 dirty="0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perfect scenes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2758650-A939-4CDB-B68E-8F94C5669A97}"/>
              </a:ext>
            </a:extLst>
          </p:cNvPr>
          <p:cNvSpPr>
            <a:spLocks noGrp="1"/>
          </p:cNvSpPr>
          <p:nvPr/>
        </p:nvSpPr>
        <p:spPr>
          <a:xfrm>
            <a:off x="9144000" y="2381250"/>
            <a:ext cx="1428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1F1E3BA-22E3-4A28-B83E-42D02FF583C4}"/>
              </a:ext>
            </a:extLst>
          </p:cNvPr>
          <p:cNvSpPr>
            <a:spLocks noGrp="1"/>
          </p:cNvSpPr>
          <p:nvPr/>
        </p:nvSpPr>
        <p:spPr>
          <a:xfrm>
            <a:off x="9277350" y="2486025"/>
            <a:ext cx="1162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08A2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08A24"/>
                </a:solidFill>
                <a:latin typeface="Malgun Gothic"/>
                <a:ea typeface="Malgun Gothic"/>
                <a:cs typeface="Malgun Gothic"/>
              </a:rPr>
              <a:t>39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41693E-D85E-474C-9DEA-C7E30FB9079C}"/>
              </a:ext>
            </a:extLst>
          </p:cNvPr>
          <p:cNvSpPr>
            <a:spLocks noGrp="1"/>
          </p:cNvSpPr>
          <p:nvPr/>
        </p:nvSpPr>
        <p:spPr>
          <a:xfrm>
            <a:off x="9277350" y="2828925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missed ghost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2B6F4A1-E2B5-48F2-878E-837F257B5411}"/>
              </a:ext>
            </a:extLst>
          </p:cNvPr>
          <p:cNvSpPr>
            <a:spLocks noGrp="1"/>
          </p:cNvSpPr>
          <p:nvPr/>
        </p:nvSpPr>
        <p:spPr>
          <a:xfrm>
            <a:off x="7429500" y="3429000"/>
            <a:ext cx="1428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85C902E-2B54-42B0-842E-1C90772723D4}"/>
              </a:ext>
            </a:extLst>
          </p:cNvPr>
          <p:cNvSpPr>
            <a:spLocks noGrp="1"/>
          </p:cNvSpPr>
          <p:nvPr/>
        </p:nvSpPr>
        <p:spPr>
          <a:xfrm>
            <a:off x="7562850" y="3533775"/>
            <a:ext cx="1162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D4474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D44747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16D1672-7A09-4198-ACCC-F81C49D78CCD}"/>
              </a:ext>
            </a:extLst>
          </p:cNvPr>
          <p:cNvSpPr>
            <a:spLocks noGrp="1"/>
          </p:cNvSpPr>
          <p:nvPr/>
        </p:nvSpPr>
        <p:spPr>
          <a:xfrm>
            <a:off x="7562850" y="3876675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false positive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E2052DE-6414-496A-8454-296BB10782F6}"/>
              </a:ext>
            </a:extLst>
          </p:cNvPr>
          <p:cNvSpPr>
            <a:spLocks noGrp="1"/>
          </p:cNvSpPr>
          <p:nvPr/>
        </p:nvSpPr>
        <p:spPr>
          <a:xfrm>
            <a:off x="9144000" y="3429000"/>
            <a:ext cx="1428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2AEA741-2C06-4739-A468-A7765E5F0292}"/>
              </a:ext>
            </a:extLst>
          </p:cNvPr>
          <p:cNvSpPr>
            <a:spLocks noGrp="1"/>
          </p:cNvSpPr>
          <p:nvPr/>
        </p:nvSpPr>
        <p:spPr>
          <a:xfrm>
            <a:off x="9277350" y="3533775"/>
            <a:ext cx="1162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6B5DD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6B5DD3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66A47CC-C45B-4D12-BCBB-6A27EA064ED4}"/>
              </a:ext>
            </a:extLst>
          </p:cNvPr>
          <p:cNvSpPr>
            <a:spLocks noGrp="1"/>
          </p:cNvSpPr>
          <p:nvPr/>
        </p:nvSpPr>
        <p:spPr>
          <a:xfrm>
            <a:off x="9277350" y="3876675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class confusion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B5210E9-D83D-4C93-A699-9AA942DA6E78}"/>
              </a:ext>
            </a:extLst>
          </p:cNvPr>
          <p:cNvSpPr>
            <a:spLocks noGrp="1"/>
          </p:cNvSpPr>
          <p:nvPr/>
        </p:nvSpPr>
        <p:spPr>
          <a:xfrm>
            <a:off x="7524750" y="4829175"/>
            <a:ext cx="66675" cy="6667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84C11EF-17B1-4067-B70E-360995BF8220}"/>
              </a:ext>
            </a:extLst>
          </p:cNvPr>
          <p:cNvSpPr>
            <a:spLocks noGrp="1"/>
          </p:cNvSpPr>
          <p:nvPr/>
        </p:nvSpPr>
        <p:spPr>
          <a:xfrm>
            <a:off x="7715250" y="4762500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conf=0.25, IoU=0.5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F5D091F-6849-4657-A86E-BB1A07619D49}"/>
              </a:ext>
            </a:extLst>
          </p:cNvPr>
          <p:cNvSpPr>
            <a:spLocks noGrp="1"/>
          </p:cNvSpPr>
          <p:nvPr/>
        </p:nvSpPr>
        <p:spPr>
          <a:xfrm>
            <a:off x="7524750" y="5153025"/>
            <a:ext cx="66675" cy="6667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3C4654B-F025-4632-A735-3694A7271F6D}"/>
              </a:ext>
            </a:extLst>
          </p:cNvPr>
          <p:cNvSpPr>
            <a:spLocks noGrp="1"/>
          </p:cNvSpPr>
          <p:nvPr/>
        </p:nvSpPr>
        <p:spPr>
          <a:xfrm>
            <a:off x="7715250" y="5086350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near_miss=center distance ≤ 3 bins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C021046-6686-434F-96F5-2BA07597C81E}"/>
              </a:ext>
            </a:extLst>
          </p:cNvPr>
          <p:cNvSpPr>
            <a:spLocks noGrp="1"/>
          </p:cNvSpPr>
          <p:nvPr/>
        </p:nvSpPr>
        <p:spPr>
          <a:xfrm>
            <a:off x="7524750" y="5476875"/>
            <a:ext cx="66675" cy="6667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DA0AB81-58EC-4757-A8C7-F542DC6FF42A}"/>
              </a:ext>
            </a:extLst>
          </p:cNvPr>
          <p:cNvSpPr>
            <a:spLocks noGrp="1"/>
          </p:cNvSpPr>
          <p:nvPr/>
        </p:nvSpPr>
        <p:spPr>
          <a:xfrm>
            <a:off x="7715250" y="5410200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duplicate GT 1개 제거</a:t>
            </a:r>
          </a:p>
        </p:txBody>
      </p:sp>
    </p:spTree>
    <p:extLst>
      <p:ext uri="{BB962C8B-B14F-4D97-AF65-F5344CB8AC3E}">
        <p14:creationId xmlns:p14="http://schemas.microsoft.com/office/powerpoint/2010/main" val="1275496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98CD0A5C-3C21-439A-87B5-D5C6B1F258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266700"/>
            <a:ext cx="419100" cy="4191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39824" y="266700"/>
            <a:ext cx="1961002" cy="4572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E64E2A4-7615-49C5-B0EF-4D2C2A256E33}"/>
              </a:ext>
            </a:extLst>
          </p:cNvPr>
          <p:cNvSpPr>
            <a:spLocks noGrp="1"/>
          </p:cNvSpPr>
          <p:nvPr/>
        </p:nvSpPr>
        <p:spPr>
          <a:xfrm>
            <a:off x="971550" y="371475"/>
            <a:ext cx="409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Ghost-Aware YOLO / FMCW RD Map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8E3DDCA-28DE-4001-828E-2E998388150D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11125200" cy="9525"/>
          </a:xfrm>
          <a:prstGeom prst="rect">
            <a:avLst/>
          </a:prstGeom>
          <a:solidFill>
            <a:srgbClr val="CAD7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B22A8FE-CB44-4CDD-999A-B5B40074399F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95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SATECS RADAR LAB · Korea Aerospace University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8C5E0D5-8FAE-4ED5-8486-6136DDF8DCD8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C28AA8F-D5DE-45F5-9ED1-C4D7D1CC88C8}"/>
              </a:ext>
            </a:extLst>
          </p:cNvPr>
          <p:cNvSpPr>
            <a:spLocks noGrp="1"/>
          </p:cNvSpPr>
          <p:nvPr/>
        </p:nvSpPr>
        <p:spPr>
          <a:xfrm>
            <a:off x="590550" y="952500"/>
            <a:ext cx="85725" cy="8572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818ED44-BC5C-44E6-9408-06AC2C7F4F29}"/>
              </a:ext>
            </a:extLst>
          </p:cNvPr>
          <p:cNvSpPr>
            <a:spLocks noGrp="1"/>
          </p:cNvSpPr>
          <p:nvPr/>
        </p:nvSpPr>
        <p:spPr>
          <a:xfrm>
            <a:off x="800100" y="895350"/>
            <a:ext cx="3619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FAILURE RECORD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5531FAF-4AEE-4C36-8388-186A8E938F80}"/>
              </a:ext>
            </a:extLst>
          </p:cNvPr>
          <p:cNvSpPr>
            <a:spLocks noGrp="1"/>
          </p:cNvSpPr>
          <p:nvPr/>
        </p:nvSpPr>
        <p:spPr>
          <a:xfrm>
            <a:off x="590550" y="1181100"/>
            <a:ext cx="9906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실패 scene은 missed ghost 39, FP 22, class confusion 1로 분리해 보관했다.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95FF524-FF82-4066-8783-1612366E56C6}"/>
              </a:ext>
            </a:extLst>
          </p:cNvPr>
          <p:cNvSpPr>
            <a:spLocks noGrp="1"/>
          </p:cNvSpPr>
          <p:nvPr/>
        </p:nvSpPr>
        <p:spPr>
          <a:xfrm>
            <a:off x="704850" y="2200275"/>
            <a:ext cx="2933700" cy="29337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2950" y="2238375"/>
            <a:ext cx="2857500" cy="285750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70CAE20A-FEED-4DA8-82E6-3F77942613A4}"/>
              </a:ext>
            </a:extLst>
          </p:cNvPr>
          <p:cNvSpPr>
            <a:spLocks noGrp="1"/>
          </p:cNvSpPr>
          <p:nvPr/>
        </p:nvSpPr>
        <p:spPr>
          <a:xfrm>
            <a:off x="4438650" y="2200275"/>
            <a:ext cx="2933700" cy="29337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476750" y="2238375"/>
            <a:ext cx="2857500" cy="285750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4F4D40AF-06A9-43AF-9B71-4EB986445397}"/>
              </a:ext>
            </a:extLst>
          </p:cNvPr>
          <p:cNvSpPr>
            <a:spLocks noGrp="1"/>
          </p:cNvSpPr>
          <p:nvPr/>
        </p:nvSpPr>
        <p:spPr>
          <a:xfrm>
            <a:off x="8172450" y="2200275"/>
            <a:ext cx="2933700" cy="29337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210550" y="2238375"/>
            <a:ext cx="2857500" cy="285750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6FBACE97-70DE-4C69-9138-579B1A1BD9DC}"/>
              </a:ext>
            </a:extLst>
          </p:cNvPr>
          <p:cNvSpPr>
            <a:spLocks noGrp="1"/>
          </p:cNvSpPr>
          <p:nvPr/>
        </p:nvSpPr>
        <p:spPr>
          <a:xfrm>
            <a:off x="1000125" y="5286375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08A2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08A24"/>
                </a:solidFill>
                <a:latin typeface="Malgun Gothic"/>
                <a:ea typeface="Malgun Gothic"/>
                <a:cs typeface="Malgun Gothic"/>
              </a:rPr>
              <a:t>39 missed ghost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EE664B0-632B-4AD5-B186-C4A65618AE1F}"/>
              </a:ext>
            </a:extLst>
          </p:cNvPr>
          <p:cNvSpPr>
            <a:spLocks noGrp="1"/>
          </p:cNvSpPr>
          <p:nvPr/>
        </p:nvSpPr>
        <p:spPr>
          <a:xfrm>
            <a:off x="4714875" y="5286375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D447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44747"/>
                </a:solidFill>
                <a:latin typeface="Malgun Gothic"/>
                <a:ea typeface="Malgun Gothic"/>
                <a:cs typeface="Malgun Gothic"/>
              </a:rPr>
              <a:t>22 false positive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DBC20F-6AF8-4EA3-A14D-88D75CDBEF78}"/>
              </a:ext>
            </a:extLst>
          </p:cNvPr>
          <p:cNvSpPr>
            <a:spLocks noGrp="1"/>
          </p:cNvSpPr>
          <p:nvPr/>
        </p:nvSpPr>
        <p:spPr>
          <a:xfrm>
            <a:off x="8429625" y="5286375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6B5DD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B5DD3"/>
                </a:solidFill>
                <a:latin typeface="Malgun Gothic"/>
                <a:ea typeface="Malgun Gothic"/>
                <a:cs typeface="Malgun Gothic"/>
              </a:rPr>
              <a:t>1 class confusion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7D41A68-070E-4C35-A9E2-658C045CD99C}"/>
              </a:ext>
            </a:extLst>
          </p:cNvPr>
          <p:cNvSpPr>
            <a:spLocks noGrp="1"/>
          </p:cNvSpPr>
          <p:nvPr/>
        </p:nvSpPr>
        <p:spPr>
          <a:xfrm>
            <a:off x="2705100" y="3524250"/>
            <a:ext cx="4762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28575">
            <a:solidFill>
              <a:srgbClr val="F08A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5C56225-3F3F-4992-AF68-2EBAC27317C4}"/>
              </a:ext>
            </a:extLst>
          </p:cNvPr>
          <p:cNvSpPr>
            <a:spLocks noGrp="1"/>
          </p:cNvSpPr>
          <p:nvPr/>
        </p:nvSpPr>
        <p:spPr>
          <a:xfrm>
            <a:off x="6191250" y="4000500"/>
            <a:ext cx="52387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28575">
            <a:solidFill>
              <a:srgbClr val="D447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49424AF-6F21-42BF-B575-543B941B5C5B}"/>
              </a:ext>
            </a:extLst>
          </p:cNvPr>
          <p:cNvSpPr>
            <a:spLocks noGrp="1"/>
          </p:cNvSpPr>
          <p:nvPr/>
        </p:nvSpPr>
        <p:spPr>
          <a:xfrm>
            <a:off x="9639300" y="3124200"/>
            <a:ext cx="428625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28575">
            <a:solidFill>
              <a:srgbClr val="6B5D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33C7285-476F-4C54-93B7-BA4665A23FE3}"/>
              </a:ext>
            </a:extLst>
          </p:cNvPr>
          <p:cNvSpPr>
            <a:spLocks noGrp="1"/>
          </p:cNvSpPr>
          <p:nvPr/>
        </p:nvSpPr>
        <p:spPr>
          <a:xfrm>
            <a:off x="2476500" y="58293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highlight boxes mark the failure region to inspect during qualitative review</a:t>
            </a:r>
          </a:p>
        </p:txBody>
      </p:sp>
    </p:spTree>
    <p:extLst>
      <p:ext uri="{BB962C8B-B14F-4D97-AF65-F5344CB8AC3E}">
        <p14:creationId xmlns:p14="http://schemas.microsoft.com/office/powerpoint/2010/main" val="67713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직사각형 43">
            <a:extLst>
              <a:ext uri="{FF2B5EF4-FFF2-40B4-BE49-F238E27FC236}">
                <a16:creationId xmlns:a16="http://schemas.microsoft.com/office/drawing/2014/main" id="{535225F8-187C-47C7-8523-83AAFF802E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266700"/>
            <a:ext cx="419100" cy="4191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39824" y="266700"/>
            <a:ext cx="1961002" cy="4572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347F55F-8E75-4D86-AF9E-29E5967C128B}"/>
              </a:ext>
            </a:extLst>
          </p:cNvPr>
          <p:cNvSpPr>
            <a:spLocks noGrp="1"/>
          </p:cNvSpPr>
          <p:nvPr/>
        </p:nvSpPr>
        <p:spPr>
          <a:xfrm>
            <a:off x="971550" y="371475"/>
            <a:ext cx="409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Ghost-Aware YOLO / FMCW RD Map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301DCDA-5C94-48A2-9599-6DD60373D08C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11125200" cy="9525"/>
          </a:xfrm>
          <a:prstGeom prst="rect">
            <a:avLst/>
          </a:prstGeom>
          <a:solidFill>
            <a:srgbClr val="CAD7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7D74444-C16E-4EDF-9477-E2E7CD6ABDFB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95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SATECS RADAR LAB · Korea Aerospace University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FAC1716-E542-40CD-8C3B-AD9ACAC815CB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C0A205B-41D4-4350-B20C-FBD657E4DB16}"/>
              </a:ext>
            </a:extLst>
          </p:cNvPr>
          <p:cNvSpPr>
            <a:spLocks noGrp="1"/>
          </p:cNvSpPr>
          <p:nvPr/>
        </p:nvSpPr>
        <p:spPr>
          <a:xfrm>
            <a:off x="590550" y="952500"/>
            <a:ext cx="85725" cy="8572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E2034DE-EB0E-47F2-9FD6-E1B143CBA36C}"/>
              </a:ext>
            </a:extLst>
          </p:cNvPr>
          <p:cNvSpPr>
            <a:spLocks noGrp="1"/>
          </p:cNvSpPr>
          <p:nvPr/>
        </p:nvSpPr>
        <p:spPr>
          <a:xfrm>
            <a:off x="800100" y="895350"/>
            <a:ext cx="3619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V4.3 NMS SWEEP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6E90C49-537A-4DAC-B934-FB719E09CDDF}"/>
              </a:ext>
            </a:extLst>
          </p:cNvPr>
          <p:cNvSpPr>
            <a:spLocks noGrp="1"/>
          </p:cNvSpPr>
          <p:nvPr/>
        </p:nvSpPr>
        <p:spPr>
          <a:xfrm>
            <a:off x="590550" y="1181100"/>
            <a:ext cx="9906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NMS IoU 변경은 recall을 회복하지 못했고 FP만 증가시켜, missed ghost의 주원인으로 보기 어렵다.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626F0D3-986D-43ED-BAE7-D65A924DD910}"/>
              </a:ext>
            </a:extLst>
          </p:cNvPr>
          <p:cNvSpPr>
            <a:spLocks noGrp="1"/>
          </p:cNvSpPr>
          <p:nvPr/>
        </p:nvSpPr>
        <p:spPr>
          <a:xfrm>
            <a:off x="914400" y="2305050"/>
            <a:ext cx="952500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1B6C5DF-4F83-4288-913E-4EB198CB898C}"/>
              </a:ext>
            </a:extLst>
          </p:cNvPr>
          <p:cNvSpPr>
            <a:spLocks noGrp="1"/>
          </p:cNvSpPr>
          <p:nvPr/>
        </p:nvSpPr>
        <p:spPr>
          <a:xfrm>
            <a:off x="1200150" y="2590800"/>
            <a:ext cx="8858250" cy="323850"/>
          </a:xfrm>
          <a:prstGeom prst="rect">
            <a:avLst/>
          </a:prstGeom>
          <a:solidFill>
            <a:srgbClr val="08213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1DF1AF0-278D-415D-9668-F3DD12B72760}"/>
              </a:ext>
            </a:extLst>
          </p:cNvPr>
          <p:cNvSpPr>
            <a:spLocks noGrp="1"/>
          </p:cNvSpPr>
          <p:nvPr/>
        </p:nvSpPr>
        <p:spPr>
          <a:xfrm>
            <a:off x="1381125" y="26670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NMS IoU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B3A24C1-18A8-4A7B-9016-D553CCAF2181}"/>
              </a:ext>
            </a:extLst>
          </p:cNvPr>
          <p:cNvSpPr>
            <a:spLocks noGrp="1"/>
          </p:cNvSpPr>
          <p:nvPr/>
        </p:nvSpPr>
        <p:spPr>
          <a:xfrm>
            <a:off x="2762250" y="26670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TP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17392E2-36CB-4AA1-B644-D6409BE70505}"/>
              </a:ext>
            </a:extLst>
          </p:cNvPr>
          <p:cNvSpPr>
            <a:spLocks noGrp="1"/>
          </p:cNvSpPr>
          <p:nvPr/>
        </p:nvSpPr>
        <p:spPr>
          <a:xfrm>
            <a:off x="4143375" y="26670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FP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EAB9EEE-C53E-4627-85BE-AE33775CF4AD}"/>
              </a:ext>
            </a:extLst>
          </p:cNvPr>
          <p:cNvSpPr>
            <a:spLocks noGrp="1"/>
          </p:cNvSpPr>
          <p:nvPr/>
        </p:nvSpPr>
        <p:spPr>
          <a:xfrm>
            <a:off x="5524500" y="26670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 ghost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6D9207A-5FFC-4274-824D-3F5DEB373B8B}"/>
              </a:ext>
            </a:extLst>
          </p:cNvPr>
          <p:cNvSpPr>
            <a:spLocks noGrp="1"/>
          </p:cNvSpPr>
          <p:nvPr/>
        </p:nvSpPr>
        <p:spPr>
          <a:xfrm>
            <a:off x="6905625" y="26670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precision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3199115-C73C-4175-9A2C-BF68A65BD890}"/>
              </a:ext>
            </a:extLst>
          </p:cNvPr>
          <p:cNvSpPr>
            <a:spLocks noGrp="1"/>
          </p:cNvSpPr>
          <p:nvPr/>
        </p:nvSpPr>
        <p:spPr>
          <a:xfrm>
            <a:off x="8286750" y="26670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recall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76AFA01-66D0-4A0C-A0CE-637FAF7DDC94}"/>
              </a:ext>
            </a:extLst>
          </p:cNvPr>
          <p:cNvSpPr>
            <a:spLocks noGrp="1"/>
          </p:cNvSpPr>
          <p:nvPr/>
        </p:nvSpPr>
        <p:spPr>
          <a:xfrm>
            <a:off x="1381125" y="31242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0.50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1C07D50-05F1-40EB-88C1-1FE6D5B6EBB4}"/>
              </a:ext>
            </a:extLst>
          </p:cNvPr>
          <p:cNvSpPr>
            <a:spLocks noGrp="1"/>
          </p:cNvSpPr>
          <p:nvPr/>
        </p:nvSpPr>
        <p:spPr>
          <a:xfrm>
            <a:off x="2762250" y="31242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993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4BE603C-98A6-4A11-B9B1-36E6DC9AF0E7}"/>
              </a:ext>
            </a:extLst>
          </p:cNvPr>
          <p:cNvSpPr>
            <a:spLocks noGrp="1"/>
          </p:cNvSpPr>
          <p:nvPr/>
        </p:nvSpPr>
        <p:spPr>
          <a:xfrm>
            <a:off x="4143375" y="31242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18588C6-FEF6-4D6F-AEB8-3F9D92FA1337}"/>
              </a:ext>
            </a:extLst>
          </p:cNvPr>
          <p:cNvSpPr>
            <a:spLocks noGrp="1"/>
          </p:cNvSpPr>
          <p:nvPr/>
        </p:nvSpPr>
        <p:spPr>
          <a:xfrm>
            <a:off x="5524500" y="31242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39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39B3F43-6A3C-4543-9D4D-FD481CF97527}"/>
              </a:ext>
            </a:extLst>
          </p:cNvPr>
          <p:cNvSpPr>
            <a:spLocks noGrp="1"/>
          </p:cNvSpPr>
          <p:nvPr/>
        </p:nvSpPr>
        <p:spPr>
          <a:xfrm>
            <a:off x="6905625" y="31242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0.985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D404AC1-72AA-4796-A252-9F7FB0CAFCD5}"/>
              </a:ext>
            </a:extLst>
          </p:cNvPr>
          <p:cNvSpPr>
            <a:spLocks noGrp="1"/>
          </p:cNvSpPr>
          <p:nvPr/>
        </p:nvSpPr>
        <p:spPr>
          <a:xfrm>
            <a:off x="8286750" y="31242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0.958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3796FC6-BB20-484E-ABCA-AE6483896F59}"/>
              </a:ext>
            </a:extLst>
          </p:cNvPr>
          <p:cNvSpPr>
            <a:spLocks noGrp="1"/>
          </p:cNvSpPr>
          <p:nvPr/>
        </p:nvSpPr>
        <p:spPr>
          <a:xfrm>
            <a:off x="1381125" y="35814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0.70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22C3D09-03F4-4D49-BD39-36FD3D77E74F}"/>
              </a:ext>
            </a:extLst>
          </p:cNvPr>
          <p:cNvSpPr>
            <a:spLocks noGrp="1"/>
          </p:cNvSpPr>
          <p:nvPr/>
        </p:nvSpPr>
        <p:spPr>
          <a:xfrm>
            <a:off x="2762250" y="35814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993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FD39621-5BC9-42E2-A4D8-077F62B5C2ED}"/>
              </a:ext>
            </a:extLst>
          </p:cNvPr>
          <p:cNvSpPr>
            <a:spLocks noGrp="1"/>
          </p:cNvSpPr>
          <p:nvPr/>
        </p:nvSpPr>
        <p:spPr>
          <a:xfrm>
            <a:off x="4143375" y="35814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F4EA7CB-9F90-4411-B82E-3BABF1C3F55E}"/>
              </a:ext>
            </a:extLst>
          </p:cNvPr>
          <p:cNvSpPr>
            <a:spLocks noGrp="1"/>
          </p:cNvSpPr>
          <p:nvPr/>
        </p:nvSpPr>
        <p:spPr>
          <a:xfrm>
            <a:off x="5524500" y="35814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39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015E13B-06B5-46EA-B871-473702A781B1}"/>
              </a:ext>
            </a:extLst>
          </p:cNvPr>
          <p:cNvSpPr>
            <a:spLocks noGrp="1"/>
          </p:cNvSpPr>
          <p:nvPr/>
        </p:nvSpPr>
        <p:spPr>
          <a:xfrm>
            <a:off x="6905625" y="35814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0.977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21522A7-40A9-4959-A4B6-C15D232A13AE}"/>
              </a:ext>
            </a:extLst>
          </p:cNvPr>
          <p:cNvSpPr>
            <a:spLocks noGrp="1"/>
          </p:cNvSpPr>
          <p:nvPr/>
        </p:nvSpPr>
        <p:spPr>
          <a:xfrm>
            <a:off x="8286750" y="35814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0.958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97D0F6D-D3CA-4EB9-A0EC-A227EA23DDD7}"/>
              </a:ext>
            </a:extLst>
          </p:cNvPr>
          <p:cNvSpPr>
            <a:spLocks noGrp="1"/>
          </p:cNvSpPr>
          <p:nvPr/>
        </p:nvSpPr>
        <p:spPr>
          <a:xfrm>
            <a:off x="1381125" y="40386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0.85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3505D25-8A46-4433-939B-ED30AE3E2E82}"/>
              </a:ext>
            </a:extLst>
          </p:cNvPr>
          <p:cNvSpPr>
            <a:spLocks noGrp="1"/>
          </p:cNvSpPr>
          <p:nvPr/>
        </p:nvSpPr>
        <p:spPr>
          <a:xfrm>
            <a:off x="2762250" y="40386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993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96DE4E2-27B5-46E8-995C-1D8D69323C36}"/>
              </a:ext>
            </a:extLst>
          </p:cNvPr>
          <p:cNvSpPr>
            <a:spLocks noGrp="1"/>
          </p:cNvSpPr>
          <p:nvPr/>
        </p:nvSpPr>
        <p:spPr>
          <a:xfrm>
            <a:off x="4143375" y="40386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F5C8D10-3F9C-4971-9FFA-E385373F401B}"/>
              </a:ext>
            </a:extLst>
          </p:cNvPr>
          <p:cNvSpPr>
            <a:spLocks noGrp="1"/>
          </p:cNvSpPr>
          <p:nvPr/>
        </p:nvSpPr>
        <p:spPr>
          <a:xfrm>
            <a:off x="5524500" y="40386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39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5E48FB0-F944-4DE2-B024-3A017775373A}"/>
              </a:ext>
            </a:extLst>
          </p:cNvPr>
          <p:cNvSpPr>
            <a:spLocks noGrp="1"/>
          </p:cNvSpPr>
          <p:nvPr/>
        </p:nvSpPr>
        <p:spPr>
          <a:xfrm>
            <a:off x="6905625" y="40386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0.970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17C2095-73AD-416E-84C6-274AE7BA5D7F}"/>
              </a:ext>
            </a:extLst>
          </p:cNvPr>
          <p:cNvSpPr>
            <a:spLocks noGrp="1"/>
          </p:cNvSpPr>
          <p:nvPr/>
        </p:nvSpPr>
        <p:spPr>
          <a:xfrm>
            <a:off x="8286750" y="40386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0.958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67CF43F-149A-45B4-B1E3-36E6EE3A64E8}"/>
              </a:ext>
            </a:extLst>
          </p:cNvPr>
          <p:cNvSpPr>
            <a:spLocks noGrp="1"/>
          </p:cNvSpPr>
          <p:nvPr/>
        </p:nvSpPr>
        <p:spPr>
          <a:xfrm>
            <a:off x="1381125" y="44958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0.95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19F3CF8-1337-479D-80CA-7432D69AC7A3}"/>
              </a:ext>
            </a:extLst>
          </p:cNvPr>
          <p:cNvSpPr>
            <a:spLocks noGrp="1"/>
          </p:cNvSpPr>
          <p:nvPr/>
        </p:nvSpPr>
        <p:spPr>
          <a:xfrm>
            <a:off x="2762250" y="44958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993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CE3350F-49C8-4B94-95D7-F0B6AA7C2741}"/>
              </a:ext>
            </a:extLst>
          </p:cNvPr>
          <p:cNvSpPr>
            <a:spLocks noGrp="1"/>
          </p:cNvSpPr>
          <p:nvPr/>
        </p:nvSpPr>
        <p:spPr>
          <a:xfrm>
            <a:off x="4143375" y="44958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41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D35103E-C8A4-4E9A-927D-86887154F00B}"/>
              </a:ext>
            </a:extLst>
          </p:cNvPr>
          <p:cNvSpPr>
            <a:spLocks noGrp="1"/>
          </p:cNvSpPr>
          <p:nvPr/>
        </p:nvSpPr>
        <p:spPr>
          <a:xfrm>
            <a:off x="5524500" y="44958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39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BF32213-E5AA-45B1-8F51-9E141C420C8C}"/>
              </a:ext>
            </a:extLst>
          </p:cNvPr>
          <p:cNvSpPr>
            <a:spLocks noGrp="1"/>
          </p:cNvSpPr>
          <p:nvPr/>
        </p:nvSpPr>
        <p:spPr>
          <a:xfrm>
            <a:off x="6905625" y="44958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0.959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C2850BA-6394-4A09-B72B-554C359DE092}"/>
              </a:ext>
            </a:extLst>
          </p:cNvPr>
          <p:cNvSpPr>
            <a:spLocks noGrp="1"/>
          </p:cNvSpPr>
          <p:nvPr/>
        </p:nvSpPr>
        <p:spPr>
          <a:xfrm>
            <a:off x="8286750" y="44958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0.958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BA7CF3D-7BC8-478E-801D-2E4A63E79AB5}"/>
              </a:ext>
            </a:extLst>
          </p:cNvPr>
          <p:cNvSpPr>
            <a:spLocks noGrp="1"/>
          </p:cNvSpPr>
          <p:nvPr/>
        </p:nvSpPr>
        <p:spPr>
          <a:xfrm>
            <a:off x="1809750" y="5095875"/>
            <a:ext cx="781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결론: NMS를 높이면 중복 예측이 살아 FP가 늘지만, missed ghost 39개는 줄지 않았다.</a:t>
            </a:r>
          </a:p>
        </p:txBody>
      </p:sp>
    </p:spTree>
    <p:extLst>
      <p:ext uri="{BB962C8B-B14F-4D97-AF65-F5344CB8AC3E}">
        <p14:creationId xmlns:p14="http://schemas.microsoft.com/office/powerpoint/2010/main" val="1372269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AB074CD6-B3BE-4AEC-AAEF-06B13CD883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266700"/>
            <a:ext cx="419100" cy="4191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39824" y="266700"/>
            <a:ext cx="1961002" cy="4572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8E91683-A107-4761-AE1B-DE2FE590AB6C}"/>
              </a:ext>
            </a:extLst>
          </p:cNvPr>
          <p:cNvSpPr>
            <a:spLocks noGrp="1"/>
          </p:cNvSpPr>
          <p:nvPr/>
        </p:nvSpPr>
        <p:spPr>
          <a:xfrm>
            <a:off x="971550" y="371475"/>
            <a:ext cx="409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Ghost-Aware YOLO / FMCW RD Map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D85C59-D66A-4FE0-B174-88A4E71D95A0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11125200" cy="9525"/>
          </a:xfrm>
          <a:prstGeom prst="rect">
            <a:avLst/>
          </a:prstGeom>
          <a:solidFill>
            <a:srgbClr val="CAD7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3D3E499-DD3A-496A-9E88-D8BF627FF607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95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SATECS RADAR LAB · Korea Aerospace University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EC9D13B-01E2-470C-ABBD-668CA36F4DCD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9E13D53-681F-4412-8E2C-670E39006AE0}"/>
              </a:ext>
            </a:extLst>
          </p:cNvPr>
          <p:cNvSpPr>
            <a:spLocks noGrp="1"/>
          </p:cNvSpPr>
          <p:nvPr/>
        </p:nvSpPr>
        <p:spPr>
          <a:xfrm>
            <a:off x="590550" y="952500"/>
            <a:ext cx="85725" cy="8572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29C8FDF-206B-4190-9D92-817C05236831}"/>
              </a:ext>
            </a:extLst>
          </p:cNvPr>
          <p:cNvSpPr>
            <a:spLocks noGrp="1"/>
          </p:cNvSpPr>
          <p:nvPr/>
        </p:nvSpPr>
        <p:spPr>
          <a:xfrm>
            <a:off x="800100" y="895350"/>
            <a:ext cx="3619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V4.4 / V4.5 DIAGNOSIS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99289FB-F7FA-464D-93D5-B0234494625E}"/>
              </a:ext>
            </a:extLst>
          </p:cNvPr>
          <p:cNvSpPr>
            <a:spLocks noGrp="1"/>
          </p:cNvSpPr>
          <p:nvPr/>
        </p:nvSpPr>
        <p:spPr>
          <a:xfrm>
            <a:off x="590550" y="1181100"/>
            <a:ext cx="9906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missed ghost 대부분은 약한 단독 ghost가 아니라 family 내부 분리 문제에 가깝다.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0AA121E-03C2-48DB-AA5A-97BA474D0694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44767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85290EB-92EA-4EFA-B6A1-824BE3998982}"/>
              </a:ext>
            </a:extLst>
          </p:cNvPr>
          <p:cNvSpPr>
            <a:spLocks noGrp="1"/>
          </p:cNvSpPr>
          <p:nvPr/>
        </p:nvSpPr>
        <p:spPr>
          <a:xfrm>
            <a:off x="1190625" y="3000375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family internal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2F656F9-1659-4310-BBFC-6850712DB5FA}"/>
              </a:ext>
            </a:extLst>
          </p:cNvPr>
          <p:cNvSpPr>
            <a:spLocks noGrp="1"/>
          </p:cNvSpPr>
          <p:nvPr/>
        </p:nvSpPr>
        <p:spPr>
          <a:xfrm>
            <a:off x="3095625" y="3038475"/>
            <a:ext cx="857250" cy="114300"/>
          </a:xfrm>
          <a:prstGeom prst="rect">
            <a:avLst/>
          </a:prstGeom>
          <a:solidFill>
            <a:srgbClr val="E6EE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2CFF5D-0C49-4E3E-8C30-6DEFE6696DB1}"/>
              </a:ext>
            </a:extLst>
          </p:cNvPr>
          <p:cNvSpPr>
            <a:spLocks noGrp="1"/>
          </p:cNvSpPr>
          <p:nvPr/>
        </p:nvSpPr>
        <p:spPr>
          <a:xfrm>
            <a:off x="3095625" y="3038475"/>
            <a:ext cx="813288" cy="114300"/>
          </a:xfrm>
          <a:prstGeom prst="rect">
            <a:avLst/>
          </a:prstGeom>
          <a:solidFill>
            <a:srgbClr val="F08A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8F3655B-4449-4D1A-AB60-7313D083829F}"/>
              </a:ext>
            </a:extLst>
          </p:cNvPr>
          <p:cNvSpPr>
            <a:spLocks noGrp="1"/>
          </p:cNvSpPr>
          <p:nvPr/>
        </p:nvSpPr>
        <p:spPr>
          <a:xfrm>
            <a:off x="4048125" y="299085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88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37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8AC63D-EE76-489C-9E0D-659B45B245D6}"/>
              </a:ext>
            </a:extLst>
          </p:cNvPr>
          <p:cNvSpPr>
            <a:spLocks noGrp="1"/>
          </p:cNvSpPr>
          <p:nvPr/>
        </p:nvSpPr>
        <p:spPr>
          <a:xfrm>
            <a:off x="1190625" y="35242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isolated weak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98175AC-A31A-45A3-92C2-3EF9F81A337E}"/>
              </a:ext>
            </a:extLst>
          </p:cNvPr>
          <p:cNvSpPr>
            <a:spLocks noGrp="1"/>
          </p:cNvSpPr>
          <p:nvPr/>
        </p:nvSpPr>
        <p:spPr>
          <a:xfrm>
            <a:off x="3095625" y="3562350"/>
            <a:ext cx="857250" cy="114300"/>
          </a:xfrm>
          <a:prstGeom prst="rect">
            <a:avLst/>
          </a:prstGeom>
          <a:solidFill>
            <a:srgbClr val="E6EE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D82578F-F03B-4DE1-9619-2543B4FD07ED}"/>
              </a:ext>
            </a:extLst>
          </p:cNvPr>
          <p:cNvSpPr>
            <a:spLocks noGrp="1"/>
          </p:cNvSpPr>
          <p:nvPr/>
        </p:nvSpPr>
        <p:spPr>
          <a:xfrm>
            <a:off x="3095625" y="3562350"/>
            <a:ext cx="43962" cy="114300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84376B7-32E4-41E7-8C07-172FBE64DDAD}"/>
              </a:ext>
            </a:extLst>
          </p:cNvPr>
          <p:cNvSpPr>
            <a:spLocks noGrp="1"/>
          </p:cNvSpPr>
          <p:nvPr/>
        </p:nvSpPr>
        <p:spPr>
          <a:xfrm>
            <a:off x="4048125" y="3514725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88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CC419F5-576E-4578-8958-31F349EF6EC0}"/>
              </a:ext>
            </a:extLst>
          </p:cNvPr>
          <p:cNvSpPr>
            <a:spLocks noGrp="1"/>
          </p:cNvSpPr>
          <p:nvPr/>
        </p:nvSpPr>
        <p:spPr>
          <a:xfrm>
            <a:off x="1190625" y="419100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parent detected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A3817C1-DB0C-4834-A432-F6B153196664}"/>
              </a:ext>
            </a:extLst>
          </p:cNvPr>
          <p:cNvSpPr>
            <a:spLocks noGrp="1"/>
          </p:cNvSpPr>
          <p:nvPr/>
        </p:nvSpPr>
        <p:spPr>
          <a:xfrm>
            <a:off x="3095625" y="4229100"/>
            <a:ext cx="857250" cy="114300"/>
          </a:xfrm>
          <a:prstGeom prst="rect">
            <a:avLst/>
          </a:prstGeom>
          <a:solidFill>
            <a:srgbClr val="E6EE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6DFEECB-44FE-45D3-B40F-2FFE2733AC48}"/>
              </a:ext>
            </a:extLst>
          </p:cNvPr>
          <p:cNvSpPr>
            <a:spLocks noGrp="1"/>
          </p:cNvSpPr>
          <p:nvPr/>
        </p:nvSpPr>
        <p:spPr>
          <a:xfrm>
            <a:off x="3095625" y="4229100"/>
            <a:ext cx="831533" cy="114300"/>
          </a:xfrm>
          <a:prstGeom prst="rect">
            <a:avLst/>
          </a:prstGeom>
          <a:solidFill>
            <a:srgbClr val="159A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DBD796A-1D51-4FE8-83EA-DAF464DD9AA5}"/>
              </a:ext>
            </a:extLst>
          </p:cNvPr>
          <p:cNvSpPr>
            <a:spLocks noGrp="1"/>
          </p:cNvSpPr>
          <p:nvPr/>
        </p:nvSpPr>
        <p:spPr>
          <a:xfrm>
            <a:off x="4048125" y="4181475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88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97%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1540878-B9CA-4B3D-91DF-7BCE9BC20963}"/>
              </a:ext>
            </a:extLst>
          </p:cNvPr>
          <p:cNvSpPr>
            <a:spLocks noGrp="1"/>
          </p:cNvSpPr>
          <p:nvPr/>
        </p:nvSpPr>
        <p:spPr>
          <a:xfrm>
            <a:off x="6191250" y="2333625"/>
            <a:ext cx="44767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08E4C6B-C5DF-48A1-BB8F-39FC0216E0A9}"/>
              </a:ext>
            </a:extLst>
          </p:cNvPr>
          <p:cNvSpPr>
            <a:spLocks noGrp="1"/>
          </p:cNvSpPr>
          <p:nvPr/>
        </p:nvSpPr>
        <p:spPr>
          <a:xfrm>
            <a:off x="6715125" y="4038600"/>
            <a:ext cx="400050" cy="533400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FF72BEC-F85E-4DF8-8DDD-79C283FBF4A1}"/>
              </a:ext>
            </a:extLst>
          </p:cNvPr>
          <p:cNvSpPr>
            <a:spLocks noGrp="1"/>
          </p:cNvSpPr>
          <p:nvPr/>
        </p:nvSpPr>
        <p:spPr>
          <a:xfrm>
            <a:off x="6667500" y="4762500"/>
            <a:ext cx="495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5x5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79E913F-E7FF-476B-B5C8-91BC37E976D4}"/>
              </a:ext>
            </a:extLst>
          </p:cNvPr>
          <p:cNvSpPr>
            <a:spLocks noGrp="1"/>
          </p:cNvSpPr>
          <p:nvPr/>
        </p:nvSpPr>
        <p:spPr>
          <a:xfrm>
            <a:off x="6667500" y="3829050"/>
            <a:ext cx="495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F114172-81FE-41B3-BC04-D2F6E88BF387}"/>
              </a:ext>
            </a:extLst>
          </p:cNvPr>
          <p:cNvSpPr>
            <a:spLocks noGrp="1"/>
          </p:cNvSpPr>
          <p:nvPr/>
        </p:nvSpPr>
        <p:spPr>
          <a:xfrm>
            <a:off x="7429500" y="4038600"/>
            <a:ext cx="400050" cy="533400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A76B1E3-5F90-4994-A46D-89C3C5387740}"/>
              </a:ext>
            </a:extLst>
          </p:cNvPr>
          <p:cNvSpPr>
            <a:spLocks noGrp="1"/>
          </p:cNvSpPr>
          <p:nvPr/>
        </p:nvSpPr>
        <p:spPr>
          <a:xfrm>
            <a:off x="7381875" y="4762500"/>
            <a:ext cx="495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4x4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820F1EA-F356-483C-9BD6-AC83F1937620}"/>
              </a:ext>
            </a:extLst>
          </p:cNvPr>
          <p:cNvSpPr>
            <a:spLocks noGrp="1"/>
          </p:cNvSpPr>
          <p:nvPr/>
        </p:nvSpPr>
        <p:spPr>
          <a:xfrm>
            <a:off x="7381875" y="3829050"/>
            <a:ext cx="495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D615FBB-E95C-46E7-87F2-00A701577A72}"/>
              </a:ext>
            </a:extLst>
          </p:cNvPr>
          <p:cNvSpPr>
            <a:spLocks noGrp="1"/>
          </p:cNvSpPr>
          <p:nvPr/>
        </p:nvSpPr>
        <p:spPr>
          <a:xfrm>
            <a:off x="8143875" y="4038600"/>
            <a:ext cx="400050" cy="533400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B70E3E0-FBE1-46FA-BB30-7F8EC34C0D80}"/>
              </a:ext>
            </a:extLst>
          </p:cNvPr>
          <p:cNvSpPr>
            <a:spLocks noGrp="1"/>
          </p:cNvSpPr>
          <p:nvPr/>
        </p:nvSpPr>
        <p:spPr>
          <a:xfrm>
            <a:off x="8096250" y="4762500"/>
            <a:ext cx="495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3x3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902FF45-50BF-49AE-9EC7-CEFA0DC49BDA}"/>
              </a:ext>
            </a:extLst>
          </p:cNvPr>
          <p:cNvSpPr>
            <a:spLocks noGrp="1"/>
          </p:cNvSpPr>
          <p:nvPr/>
        </p:nvSpPr>
        <p:spPr>
          <a:xfrm>
            <a:off x="8096250" y="3829050"/>
            <a:ext cx="495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9708B50-6960-458F-BFF8-67533C45C4D5}"/>
              </a:ext>
            </a:extLst>
          </p:cNvPr>
          <p:cNvSpPr>
            <a:spLocks noGrp="1"/>
          </p:cNvSpPr>
          <p:nvPr/>
        </p:nvSpPr>
        <p:spPr>
          <a:xfrm>
            <a:off x="8858250" y="3124200"/>
            <a:ext cx="400050" cy="1447800"/>
          </a:xfrm>
          <a:prstGeom prst="rect">
            <a:avLst/>
          </a:prstGeom>
          <a:solidFill>
            <a:srgbClr val="159A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033D7D8-2F5F-4D4D-A489-2C75653E5354}"/>
              </a:ext>
            </a:extLst>
          </p:cNvPr>
          <p:cNvSpPr>
            <a:spLocks noGrp="1"/>
          </p:cNvSpPr>
          <p:nvPr/>
        </p:nvSpPr>
        <p:spPr>
          <a:xfrm>
            <a:off x="8810625" y="4762500"/>
            <a:ext cx="495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2x2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6F05FBA-1F3F-4B7E-8908-646C7FCE8B3C}"/>
              </a:ext>
            </a:extLst>
          </p:cNvPr>
          <p:cNvSpPr>
            <a:spLocks noGrp="1"/>
          </p:cNvSpPr>
          <p:nvPr/>
        </p:nvSpPr>
        <p:spPr>
          <a:xfrm>
            <a:off x="8810625" y="2914650"/>
            <a:ext cx="495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38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802DD76-2831-43E5-A169-E70F7CD31EEA}"/>
              </a:ext>
            </a:extLst>
          </p:cNvPr>
          <p:cNvSpPr>
            <a:spLocks noGrp="1"/>
          </p:cNvSpPr>
          <p:nvPr/>
        </p:nvSpPr>
        <p:spPr>
          <a:xfrm>
            <a:off x="9572625" y="3124200"/>
            <a:ext cx="400050" cy="1447800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6EBDE8D-0127-44F1-B516-D157874D095C}"/>
              </a:ext>
            </a:extLst>
          </p:cNvPr>
          <p:cNvSpPr>
            <a:spLocks noGrp="1"/>
          </p:cNvSpPr>
          <p:nvPr/>
        </p:nvSpPr>
        <p:spPr>
          <a:xfrm>
            <a:off x="9525000" y="4762500"/>
            <a:ext cx="495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1x1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1AEC940-76D7-43B2-A391-BC0A7972CBF7}"/>
              </a:ext>
            </a:extLst>
          </p:cNvPr>
          <p:cNvSpPr>
            <a:spLocks noGrp="1"/>
          </p:cNvSpPr>
          <p:nvPr/>
        </p:nvSpPr>
        <p:spPr>
          <a:xfrm>
            <a:off x="9525000" y="2914650"/>
            <a:ext cx="495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38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2A32304-7706-4BBE-8C80-D3F14A8B2673}"/>
              </a:ext>
            </a:extLst>
          </p:cNvPr>
          <p:cNvSpPr>
            <a:spLocks noGrp="1"/>
          </p:cNvSpPr>
          <p:nvPr/>
        </p:nvSpPr>
        <p:spPr>
          <a:xfrm>
            <a:off x="6286500" y="5334000"/>
            <a:ext cx="4191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2x2 bbox는 1x1 제외 후보 중 conflict 해소 상한 38/39로 가장 높지만, 라벨 정의 변경이므로 재학습 검증이 필요했다.</a:t>
            </a:r>
          </a:p>
        </p:txBody>
      </p:sp>
    </p:spTree>
    <p:extLst>
      <p:ext uri="{BB962C8B-B14F-4D97-AF65-F5344CB8AC3E}">
        <p14:creationId xmlns:p14="http://schemas.microsoft.com/office/powerpoint/2010/main" val="1715111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>
            <a:extLst>
              <a:ext uri="{FF2B5EF4-FFF2-40B4-BE49-F238E27FC236}">
                <a16:creationId xmlns:a16="http://schemas.microsoft.com/office/drawing/2014/main" id="{F4D9D776-C343-4769-8831-C2C07F517D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266700"/>
            <a:ext cx="419100" cy="4191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39824" y="266700"/>
            <a:ext cx="1961002" cy="4572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6936890-BEE2-4438-8B68-7252458FCCB3}"/>
              </a:ext>
            </a:extLst>
          </p:cNvPr>
          <p:cNvSpPr>
            <a:spLocks noGrp="1"/>
          </p:cNvSpPr>
          <p:nvPr/>
        </p:nvSpPr>
        <p:spPr>
          <a:xfrm>
            <a:off x="971550" y="371475"/>
            <a:ext cx="409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Ghost-Aware YOLO / FMCW RD Map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23F47AE-0E9C-4829-A88B-8B428658E7F5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11125200" cy="9525"/>
          </a:xfrm>
          <a:prstGeom prst="rect">
            <a:avLst/>
          </a:prstGeom>
          <a:solidFill>
            <a:srgbClr val="CAD7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28A00D0-D85D-4F69-AA67-92164C405B53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95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SATECS RADAR LAB · Korea Aerospace University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23AA54F-7551-4C9B-B95E-A6514B8F5140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A281773-9FCF-4AB4-AECD-E5BCC2F9DA54}"/>
              </a:ext>
            </a:extLst>
          </p:cNvPr>
          <p:cNvSpPr>
            <a:spLocks noGrp="1"/>
          </p:cNvSpPr>
          <p:nvPr/>
        </p:nvSpPr>
        <p:spPr>
          <a:xfrm>
            <a:off x="590550" y="952500"/>
            <a:ext cx="85725" cy="8572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5ECE8A7-5F35-43EA-80EF-A1BFC6575E8C}"/>
              </a:ext>
            </a:extLst>
          </p:cNvPr>
          <p:cNvSpPr>
            <a:spLocks noGrp="1"/>
          </p:cNvSpPr>
          <p:nvPr/>
        </p:nvSpPr>
        <p:spPr>
          <a:xfrm>
            <a:off x="800100" y="895350"/>
            <a:ext cx="3619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V4.6 RELABEL VALIDATION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F73F3DB-045F-435A-A8FE-27C314BC4C37}"/>
              </a:ext>
            </a:extLst>
          </p:cNvPr>
          <p:cNvSpPr>
            <a:spLocks noGrp="1"/>
          </p:cNvSpPr>
          <p:nvPr/>
        </p:nvSpPr>
        <p:spPr>
          <a:xfrm>
            <a:off x="590550" y="1181100"/>
            <a:ext cx="9906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2x2 bbox 재라벨 데이터셋은 보존 조건을 모두 통과했다.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2EE0AB4-5AFD-491C-A642-9FF0002C7E5C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16192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6365E95-3844-45BB-A48D-038850287A68}"/>
              </a:ext>
            </a:extLst>
          </p:cNvPr>
          <p:cNvSpPr>
            <a:spLocks noGrp="1"/>
          </p:cNvSpPr>
          <p:nvPr/>
        </p:nvSpPr>
        <p:spPr>
          <a:xfrm>
            <a:off x="990600" y="2438400"/>
            <a:ext cx="1352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59A6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9A62"/>
                </a:solidFill>
                <a:latin typeface="Malgun Gothic"/>
                <a:ea typeface="Malgun Gothic"/>
                <a:cs typeface="Malgun Gothic"/>
              </a:rPr>
              <a:t>PASS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1DE3FD-73A4-41F3-A6D2-8EED76DE7086}"/>
              </a:ext>
            </a:extLst>
          </p:cNvPr>
          <p:cNvSpPr>
            <a:spLocks noGrp="1"/>
          </p:cNvSpPr>
          <p:nvPr/>
        </p:nvSpPr>
        <p:spPr>
          <a:xfrm>
            <a:off x="990600" y="2781300"/>
            <a:ext cx="1352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relabel verification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86CF9C0-FB63-4993-B2EE-72B42BD1FC26}"/>
              </a:ext>
            </a:extLst>
          </p:cNvPr>
          <p:cNvSpPr>
            <a:spLocks noGrp="1"/>
          </p:cNvSpPr>
          <p:nvPr/>
        </p:nvSpPr>
        <p:spPr>
          <a:xfrm>
            <a:off x="2714625" y="2333625"/>
            <a:ext cx="16192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FB70DBA-DC4E-4581-8064-6F846B0F8960}"/>
              </a:ext>
            </a:extLst>
          </p:cNvPr>
          <p:cNvSpPr>
            <a:spLocks noGrp="1"/>
          </p:cNvSpPr>
          <p:nvPr/>
        </p:nvSpPr>
        <p:spPr>
          <a:xfrm>
            <a:off x="2847975" y="2438400"/>
            <a:ext cx="1352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59A6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9A62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437EEE-0304-4D47-8A9A-BDAB23A01A38}"/>
              </a:ext>
            </a:extLst>
          </p:cNvPr>
          <p:cNvSpPr>
            <a:spLocks noGrp="1"/>
          </p:cNvSpPr>
          <p:nvPr/>
        </p:nvSpPr>
        <p:spPr>
          <a:xfrm>
            <a:off x="2847975" y="2781300"/>
            <a:ext cx="1352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boundary overflow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99169B9-6F03-4935-8762-39032B507C0D}"/>
              </a:ext>
            </a:extLst>
          </p:cNvPr>
          <p:cNvSpPr>
            <a:spLocks noGrp="1"/>
          </p:cNvSpPr>
          <p:nvPr/>
        </p:nvSpPr>
        <p:spPr>
          <a:xfrm>
            <a:off x="4572000" y="2333625"/>
            <a:ext cx="16192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24EF344-992A-4BF5-A61C-14E9B4137D6C}"/>
              </a:ext>
            </a:extLst>
          </p:cNvPr>
          <p:cNvSpPr>
            <a:spLocks noGrp="1"/>
          </p:cNvSpPr>
          <p:nvPr/>
        </p:nvSpPr>
        <p:spPr>
          <a:xfrm>
            <a:off x="4705350" y="2438400"/>
            <a:ext cx="1352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E6BD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E6BD6"/>
                </a:solidFill>
                <a:latin typeface="Malgun Gothic"/>
                <a:ea typeface="Malgun Gothic"/>
                <a:cs typeface="Malgun Gothic"/>
              </a:rPr>
              <a:t>1037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91036A8-C829-4587-BC0C-93AD33A3F2D0}"/>
              </a:ext>
            </a:extLst>
          </p:cNvPr>
          <p:cNvSpPr>
            <a:spLocks noGrp="1"/>
          </p:cNvSpPr>
          <p:nvPr/>
        </p:nvSpPr>
        <p:spPr>
          <a:xfrm>
            <a:off x="4705350" y="2781300"/>
            <a:ext cx="1352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test targets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C073248-53D9-4AAB-8189-0A76D29027AE}"/>
              </a:ext>
            </a:extLst>
          </p:cNvPr>
          <p:cNvSpPr>
            <a:spLocks noGrp="1"/>
          </p:cNvSpPr>
          <p:nvPr/>
        </p:nvSpPr>
        <p:spPr>
          <a:xfrm>
            <a:off x="1047750" y="3733800"/>
            <a:ext cx="66675" cy="66675"/>
          </a:xfrm>
          <a:prstGeom prst="rect">
            <a:avLst/>
          </a:prstGeom>
          <a:solidFill>
            <a:srgbClr val="159A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C2369DC-0C74-4F05-ADBC-94A440E8E895}"/>
              </a:ext>
            </a:extLst>
          </p:cNvPr>
          <p:cNvSpPr>
            <a:spLocks noGrp="1"/>
          </p:cNvSpPr>
          <p:nvPr/>
        </p:nvSpPr>
        <p:spPr>
          <a:xfrm>
            <a:off x="1238250" y="3667125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image/label file count 일치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BE1CC9E-6AE6-4676-A596-9B49E419AAD6}"/>
              </a:ext>
            </a:extLst>
          </p:cNvPr>
          <p:cNvSpPr>
            <a:spLocks noGrp="1"/>
          </p:cNvSpPr>
          <p:nvPr/>
        </p:nvSpPr>
        <p:spPr>
          <a:xfrm>
            <a:off x="1047750" y="4095750"/>
            <a:ext cx="66675" cy="66675"/>
          </a:xfrm>
          <a:prstGeom prst="rect">
            <a:avLst/>
          </a:prstGeom>
          <a:solidFill>
            <a:srgbClr val="159A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25A2231-E1A4-4A5D-892D-A414C1C31DC7}"/>
              </a:ext>
            </a:extLst>
          </p:cNvPr>
          <p:cNvSpPr>
            <a:spLocks noGrp="1"/>
          </p:cNvSpPr>
          <p:nvPr/>
        </p:nvSpPr>
        <p:spPr>
          <a:xfrm>
            <a:off x="1238250" y="4029075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target line count 보존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A7C8BF2-F023-43B4-8B4B-A42A08FACE53}"/>
              </a:ext>
            </a:extLst>
          </p:cNvPr>
          <p:cNvSpPr>
            <a:spLocks noGrp="1"/>
          </p:cNvSpPr>
          <p:nvPr/>
        </p:nvSpPr>
        <p:spPr>
          <a:xfrm>
            <a:off x="1047750" y="4457700"/>
            <a:ext cx="66675" cy="66675"/>
          </a:xfrm>
          <a:prstGeom prst="rect">
            <a:avLst/>
          </a:prstGeom>
          <a:solidFill>
            <a:srgbClr val="159A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612B942-6300-44C2-9544-3D26FCF0AAEC}"/>
              </a:ext>
            </a:extLst>
          </p:cNvPr>
          <p:cNvSpPr>
            <a:spLocks noGrp="1"/>
          </p:cNvSpPr>
          <p:nvPr/>
        </p:nvSpPr>
        <p:spPr>
          <a:xfrm>
            <a:off x="1238250" y="4391025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class와 center 보존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AB3A8BE-369F-4A34-A8B5-8D6FD7C69F1B}"/>
              </a:ext>
            </a:extLst>
          </p:cNvPr>
          <p:cNvSpPr>
            <a:spLocks noGrp="1"/>
          </p:cNvSpPr>
          <p:nvPr/>
        </p:nvSpPr>
        <p:spPr>
          <a:xfrm>
            <a:off x="1047750" y="4819650"/>
            <a:ext cx="66675" cy="66675"/>
          </a:xfrm>
          <a:prstGeom prst="rect">
            <a:avLst/>
          </a:prstGeom>
          <a:solidFill>
            <a:srgbClr val="159A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8B661C3-B34E-4245-A08C-C83B52873E28}"/>
              </a:ext>
            </a:extLst>
          </p:cNvPr>
          <p:cNvSpPr>
            <a:spLocks noGrp="1"/>
          </p:cNvSpPr>
          <p:nvPr/>
        </p:nvSpPr>
        <p:spPr>
          <a:xfrm>
            <a:off x="1238250" y="4752975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bbox size = 2x2 적용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096A2B3-85E1-4FD8-A0A1-D87086DA3A3B}"/>
              </a:ext>
            </a:extLst>
          </p:cNvPr>
          <p:cNvSpPr>
            <a:spLocks noGrp="1"/>
          </p:cNvSpPr>
          <p:nvPr/>
        </p:nvSpPr>
        <p:spPr>
          <a:xfrm>
            <a:off x="1047750" y="5181600"/>
            <a:ext cx="66675" cy="66675"/>
          </a:xfrm>
          <a:prstGeom prst="rect">
            <a:avLst/>
          </a:prstGeom>
          <a:solidFill>
            <a:srgbClr val="159A6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FB375D3-AD35-4DD4-9D8B-D37DFEB7E294}"/>
              </a:ext>
            </a:extLst>
          </p:cNvPr>
          <p:cNvSpPr>
            <a:spLocks noGrp="1"/>
          </p:cNvSpPr>
          <p:nvPr/>
        </p:nvSpPr>
        <p:spPr>
          <a:xfrm>
            <a:off x="1238250" y="5114925"/>
            <a:ext cx="457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image hash match와 duplicate label 보존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02CC643-E35D-4CD3-841B-3E66F183CED1}"/>
              </a:ext>
            </a:extLst>
          </p:cNvPr>
          <p:cNvSpPr>
            <a:spLocks noGrp="1"/>
          </p:cNvSpPr>
          <p:nvPr/>
        </p:nvSpPr>
        <p:spPr>
          <a:xfrm>
            <a:off x="6867525" y="2247900"/>
            <a:ext cx="2933700" cy="29337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905625" y="2643188"/>
            <a:ext cx="285750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88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6F80DD20-C6AC-44B6-93E2-9D9837E938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266700"/>
            <a:ext cx="419100" cy="4191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39824" y="266700"/>
            <a:ext cx="1961002" cy="4572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4DE6532-8D94-4F2B-BFF0-C5676BE306D3}"/>
              </a:ext>
            </a:extLst>
          </p:cNvPr>
          <p:cNvSpPr>
            <a:spLocks noGrp="1"/>
          </p:cNvSpPr>
          <p:nvPr/>
        </p:nvSpPr>
        <p:spPr>
          <a:xfrm>
            <a:off x="971550" y="371475"/>
            <a:ext cx="409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Ghost-Aware YOLO / FMCW RD Map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8C0D10B-E4CE-4590-B8EF-B3AB4108A1F9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11125200" cy="9525"/>
          </a:xfrm>
          <a:prstGeom prst="rect">
            <a:avLst/>
          </a:prstGeom>
          <a:solidFill>
            <a:srgbClr val="CAD7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349065F-0379-4694-A127-BB7223B8E06B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95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SATECS RADAR LAB · Korea Aerospace University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47950D0-BB5B-4EAE-8B3B-E421CBA4F540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65C91CD-E0EC-4475-9A4F-8A9163BBA87D}"/>
              </a:ext>
            </a:extLst>
          </p:cNvPr>
          <p:cNvSpPr>
            <a:spLocks noGrp="1"/>
          </p:cNvSpPr>
          <p:nvPr/>
        </p:nvSpPr>
        <p:spPr>
          <a:xfrm>
            <a:off x="590550" y="952500"/>
            <a:ext cx="85725" cy="8572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036E26E-FAC0-4F0E-9D05-10A077A5477F}"/>
              </a:ext>
            </a:extLst>
          </p:cNvPr>
          <p:cNvSpPr>
            <a:spLocks noGrp="1"/>
          </p:cNvSpPr>
          <p:nvPr/>
        </p:nvSpPr>
        <p:spPr>
          <a:xfrm>
            <a:off x="800100" y="895350"/>
            <a:ext cx="3619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V4.6 RETRAINING RESULT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C836ECD-B423-4FD1-8931-B4D9A6A6494A}"/>
              </a:ext>
            </a:extLst>
          </p:cNvPr>
          <p:cNvSpPr>
            <a:spLocks noGrp="1"/>
          </p:cNvSpPr>
          <p:nvPr/>
        </p:nvSpPr>
        <p:spPr>
          <a:xfrm>
            <a:off x="590550" y="1181100"/>
            <a:ext cx="9906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2x2 bbox 재학습은 ghost conflict 가설 검증용으로 의미가 있지만 V4.1 best보다 성능이 낮았다.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8D88F5D-7601-4368-9091-70D6DDEC55D1}"/>
              </a:ext>
            </a:extLst>
          </p:cNvPr>
          <p:cNvSpPr>
            <a:spLocks noGrp="1"/>
          </p:cNvSpPr>
          <p:nvPr/>
        </p:nvSpPr>
        <p:spPr>
          <a:xfrm>
            <a:off x="581025" y="2105025"/>
            <a:ext cx="4838700" cy="3171825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rcRect l="11538" r="11538"/>
          <a:stretch>
            <a:fillRect/>
          </a:stretch>
        </p:blipFill>
        <p:spPr>
          <a:xfrm>
            <a:off x="619125" y="2143125"/>
            <a:ext cx="4762500" cy="3095625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B7D73E9E-A70E-4EF5-8A00-187AE20B0D40}"/>
              </a:ext>
            </a:extLst>
          </p:cNvPr>
          <p:cNvSpPr>
            <a:spLocks noGrp="1"/>
          </p:cNvSpPr>
          <p:nvPr/>
        </p:nvSpPr>
        <p:spPr>
          <a:xfrm>
            <a:off x="5867400" y="2105025"/>
            <a:ext cx="27432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905500" y="2587625"/>
            <a:ext cx="2667000" cy="177800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F1F87507-FD56-4FFA-98DA-C09CD5CFC132}"/>
              </a:ext>
            </a:extLst>
          </p:cNvPr>
          <p:cNvSpPr>
            <a:spLocks noGrp="1"/>
          </p:cNvSpPr>
          <p:nvPr/>
        </p:nvSpPr>
        <p:spPr>
          <a:xfrm>
            <a:off x="8858250" y="2333625"/>
            <a:ext cx="1428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75DE21B-964C-46DA-B585-3A55E722414C}"/>
              </a:ext>
            </a:extLst>
          </p:cNvPr>
          <p:cNvSpPr>
            <a:spLocks noGrp="1"/>
          </p:cNvSpPr>
          <p:nvPr/>
        </p:nvSpPr>
        <p:spPr>
          <a:xfrm>
            <a:off x="8991600" y="2438400"/>
            <a:ext cx="1162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E6BD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E6BD6"/>
                </a:solidFill>
                <a:latin typeface="Malgun Gothic"/>
                <a:ea typeface="Malgun Gothic"/>
                <a:cs typeface="Malgun Gothic"/>
              </a:rPr>
              <a:t>0.877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1A6D335-BB98-41C5-B17B-2654972CF07D}"/>
              </a:ext>
            </a:extLst>
          </p:cNvPr>
          <p:cNvSpPr>
            <a:spLocks noGrp="1"/>
          </p:cNvSpPr>
          <p:nvPr/>
        </p:nvSpPr>
        <p:spPr>
          <a:xfrm>
            <a:off x="8991600" y="27813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V4.6 mAP50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49FB51E-5F7B-45B2-A168-A9950FDCBD05}"/>
              </a:ext>
            </a:extLst>
          </p:cNvPr>
          <p:cNvSpPr>
            <a:spLocks noGrp="1"/>
          </p:cNvSpPr>
          <p:nvPr/>
        </p:nvSpPr>
        <p:spPr>
          <a:xfrm>
            <a:off x="8858250" y="3333750"/>
            <a:ext cx="1428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705BFFB-709B-4F37-AA3F-B01EB1DF93EC}"/>
              </a:ext>
            </a:extLst>
          </p:cNvPr>
          <p:cNvSpPr>
            <a:spLocks noGrp="1"/>
          </p:cNvSpPr>
          <p:nvPr/>
        </p:nvSpPr>
        <p:spPr>
          <a:xfrm>
            <a:off x="8991600" y="3438525"/>
            <a:ext cx="1162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08A2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08A24"/>
                </a:solidFill>
                <a:latin typeface="Malgun Gothic"/>
                <a:ea typeface="Malgun Gothic"/>
                <a:cs typeface="Malgun Gothic"/>
              </a:rPr>
              <a:t>0.565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AFD437E-7952-4E09-ACC8-7BEDCE52645D}"/>
              </a:ext>
            </a:extLst>
          </p:cNvPr>
          <p:cNvSpPr>
            <a:spLocks noGrp="1"/>
          </p:cNvSpPr>
          <p:nvPr/>
        </p:nvSpPr>
        <p:spPr>
          <a:xfrm>
            <a:off x="8991600" y="3781425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V4.6 mAP50-95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6F570B5-4A35-4C76-97E0-A137E890A6BE}"/>
              </a:ext>
            </a:extLst>
          </p:cNvPr>
          <p:cNvSpPr>
            <a:spLocks noGrp="1"/>
          </p:cNvSpPr>
          <p:nvPr/>
        </p:nvSpPr>
        <p:spPr>
          <a:xfrm>
            <a:off x="8858250" y="4333875"/>
            <a:ext cx="1428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D836023-5F40-4FD3-8337-98C36C41D79D}"/>
              </a:ext>
            </a:extLst>
          </p:cNvPr>
          <p:cNvSpPr>
            <a:spLocks noGrp="1"/>
          </p:cNvSpPr>
          <p:nvPr/>
        </p:nvSpPr>
        <p:spPr>
          <a:xfrm>
            <a:off x="8991600" y="4438650"/>
            <a:ext cx="1162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59A6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9A62"/>
                </a:solidFill>
                <a:latin typeface="Malgun Gothic"/>
                <a:ea typeface="Malgun Gothic"/>
                <a:cs typeface="Malgun Gothic"/>
              </a:rPr>
              <a:t>0.912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61C76B2-B9B1-4A31-BF22-554B27131863}"/>
              </a:ext>
            </a:extLst>
          </p:cNvPr>
          <p:cNvSpPr>
            <a:spLocks noGrp="1"/>
          </p:cNvSpPr>
          <p:nvPr/>
        </p:nvSpPr>
        <p:spPr>
          <a:xfrm>
            <a:off x="8991600" y="478155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V4.1 best mAP50-95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38D1D6B-380F-47F1-8B9C-403C8BE4B32C}"/>
              </a:ext>
            </a:extLst>
          </p:cNvPr>
          <p:cNvSpPr>
            <a:spLocks noGrp="1"/>
          </p:cNvSpPr>
          <p:nvPr/>
        </p:nvSpPr>
        <p:spPr>
          <a:xfrm>
            <a:off x="5905500" y="5219700"/>
            <a:ext cx="4953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해석: 2x2가 conflict를 줄일 가능성은 확인했지만, 전체 detector 성능 기준으로는 baseline을 대체할 수 없음.</a:t>
            </a:r>
          </a:p>
        </p:txBody>
      </p:sp>
    </p:spTree>
    <p:extLst>
      <p:ext uri="{BB962C8B-B14F-4D97-AF65-F5344CB8AC3E}">
        <p14:creationId xmlns:p14="http://schemas.microsoft.com/office/powerpoint/2010/main" val="73106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>
            <a:extLst>
              <a:ext uri="{FF2B5EF4-FFF2-40B4-BE49-F238E27FC236}">
                <a16:creationId xmlns:a16="http://schemas.microsoft.com/office/drawing/2014/main" id="{2E103514-BD88-4FEC-812F-87646A52E1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266700"/>
            <a:ext cx="419100" cy="4191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39824" y="266700"/>
            <a:ext cx="1961002" cy="4572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905690AA-EFC7-465A-AD37-9D0D2B2CE3CE}"/>
              </a:ext>
            </a:extLst>
          </p:cNvPr>
          <p:cNvSpPr>
            <a:spLocks noGrp="1"/>
          </p:cNvSpPr>
          <p:nvPr/>
        </p:nvSpPr>
        <p:spPr>
          <a:xfrm>
            <a:off x="971550" y="371475"/>
            <a:ext cx="409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Ghost-Aware YOLO / FMCW RD Map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A7A2CBA-4EEE-4AF9-88D5-4D552D2190EC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11125200" cy="9525"/>
          </a:xfrm>
          <a:prstGeom prst="rect">
            <a:avLst/>
          </a:prstGeom>
          <a:solidFill>
            <a:srgbClr val="CAD7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8249F7E-E783-4443-AAC5-E7C8938045A7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95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SATECS RADAR LAB · Korea Aerospace University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C6052F0-096B-4AFC-AB40-5EC26E962AFF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E39DB36-EC4E-4678-A036-CC84B4BEE701}"/>
              </a:ext>
            </a:extLst>
          </p:cNvPr>
          <p:cNvSpPr>
            <a:spLocks noGrp="1"/>
          </p:cNvSpPr>
          <p:nvPr/>
        </p:nvSpPr>
        <p:spPr>
          <a:xfrm>
            <a:off x="590550" y="952500"/>
            <a:ext cx="85725" cy="8572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DFCF4C4-2835-4977-BDE5-49BCD9E886F5}"/>
              </a:ext>
            </a:extLst>
          </p:cNvPr>
          <p:cNvSpPr>
            <a:spLocks noGrp="1"/>
          </p:cNvSpPr>
          <p:nvPr/>
        </p:nvSpPr>
        <p:spPr>
          <a:xfrm>
            <a:off x="800100" y="895350"/>
            <a:ext cx="3619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V5.0-LIGHT CARRADA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7476D68-349F-4D9C-A957-9A90720735CB}"/>
              </a:ext>
            </a:extLst>
          </p:cNvPr>
          <p:cNvSpPr>
            <a:spLocks noGrp="1"/>
          </p:cNvSpPr>
          <p:nvPr/>
        </p:nvSpPr>
        <p:spPr>
          <a:xfrm>
            <a:off x="590550" y="1181100"/>
            <a:ext cx="9906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공개 CARRADA RD map에서는 ghost GT가 없으므로 domain generalization을 정성평가했다.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1EB657A-195B-4E0D-ABF2-0318FFE35A04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1428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CF04D17-F224-406F-BD37-8E5D954C8BB7}"/>
              </a:ext>
            </a:extLst>
          </p:cNvPr>
          <p:cNvSpPr>
            <a:spLocks noGrp="1"/>
          </p:cNvSpPr>
          <p:nvPr/>
        </p:nvSpPr>
        <p:spPr>
          <a:xfrm>
            <a:off x="990600" y="2438400"/>
            <a:ext cx="1162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E6BD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E6BD6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6F638E-AFFD-4AA3-B7A9-442071C1CEC8}"/>
              </a:ext>
            </a:extLst>
          </p:cNvPr>
          <p:cNvSpPr>
            <a:spLocks noGrp="1"/>
          </p:cNvSpPr>
          <p:nvPr/>
        </p:nvSpPr>
        <p:spPr>
          <a:xfrm>
            <a:off x="990600" y="27813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processed frames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F7CAF1A-6129-49D2-9F7F-5C6C23FAAAE9}"/>
              </a:ext>
            </a:extLst>
          </p:cNvPr>
          <p:cNvSpPr>
            <a:spLocks noGrp="1"/>
          </p:cNvSpPr>
          <p:nvPr/>
        </p:nvSpPr>
        <p:spPr>
          <a:xfrm>
            <a:off x="2571750" y="2333625"/>
            <a:ext cx="1428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D2CA257-A8F3-4A30-95E4-2F96F0A5326F}"/>
              </a:ext>
            </a:extLst>
          </p:cNvPr>
          <p:cNvSpPr>
            <a:spLocks noGrp="1"/>
          </p:cNvSpPr>
          <p:nvPr/>
        </p:nvSpPr>
        <p:spPr>
          <a:xfrm>
            <a:off x="2705100" y="2438400"/>
            <a:ext cx="1162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59A6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9A62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AD0C20A-F657-4E23-AC7F-D55EDE7E323C}"/>
              </a:ext>
            </a:extLst>
          </p:cNvPr>
          <p:cNvSpPr>
            <a:spLocks noGrp="1"/>
          </p:cNvSpPr>
          <p:nvPr/>
        </p:nvSpPr>
        <p:spPr>
          <a:xfrm>
            <a:off x="2705100" y="27813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Pred real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7BBD6AE-57C9-4A9F-9CE0-687977FEE84C}"/>
              </a:ext>
            </a:extLst>
          </p:cNvPr>
          <p:cNvSpPr>
            <a:spLocks noGrp="1"/>
          </p:cNvSpPr>
          <p:nvPr/>
        </p:nvSpPr>
        <p:spPr>
          <a:xfrm>
            <a:off x="4286250" y="2333625"/>
            <a:ext cx="1428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D60A0F1-E844-4F3B-A854-187793BFDD66}"/>
              </a:ext>
            </a:extLst>
          </p:cNvPr>
          <p:cNvSpPr>
            <a:spLocks noGrp="1"/>
          </p:cNvSpPr>
          <p:nvPr/>
        </p:nvSpPr>
        <p:spPr>
          <a:xfrm>
            <a:off x="4419600" y="2438400"/>
            <a:ext cx="1162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08A2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08A2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345C507-CA0D-4F3C-AE7F-547A2397F0A3}"/>
              </a:ext>
            </a:extLst>
          </p:cNvPr>
          <p:cNvSpPr>
            <a:spLocks noGrp="1"/>
          </p:cNvSpPr>
          <p:nvPr/>
        </p:nvSpPr>
        <p:spPr>
          <a:xfrm>
            <a:off x="4419600" y="278130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Pred ghost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EF8C84E-F4E9-4829-8E4D-8BB75077D444}"/>
              </a:ext>
            </a:extLst>
          </p:cNvPr>
          <p:cNvSpPr>
            <a:spLocks noGrp="1"/>
          </p:cNvSpPr>
          <p:nvPr/>
        </p:nvSpPr>
        <p:spPr>
          <a:xfrm>
            <a:off x="6000750" y="2333625"/>
            <a:ext cx="16192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DA817A0-E5C2-4730-BA28-38B6BA8AB09E}"/>
              </a:ext>
            </a:extLst>
          </p:cNvPr>
          <p:cNvSpPr>
            <a:spLocks noGrp="1"/>
          </p:cNvSpPr>
          <p:nvPr/>
        </p:nvSpPr>
        <p:spPr>
          <a:xfrm>
            <a:off x="6134100" y="2438400"/>
            <a:ext cx="1352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59A6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9A62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127B852-4EB5-44B1-B93C-4F36687DDF8E}"/>
              </a:ext>
            </a:extLst>
          </p:cNvPr>
          <p:cNvSpPr>
            <a:spLocks noGrp="1"/>
          </p:cNvSpPr>
          <p:nvPr/>
        </p:nvSpPr>
        <p:spPr>
          <a:xfrm>
            <a:off x="6134100" y="2781300"/>
            <a:ext cx="1352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near-real IoU frames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80ABBC8-BC17-482C-B07E-2D442E822896}"/>
              </a:ext>
            </a:extLst>
          </p:cNvPr>
          <p:cNvSpPr>
            <a:spLocks noGrp="1"/>
          </p:cNvSpPr>
          <p:nvPr/>
        </p:nvSpPr>
        <p:spPr>
          <a:xfrm>
            <a:off x="7905750" y="2333625"/>
            <a:ext cx="16192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059E66E-60FC-455D-9042-D3070A38C0DB}"/>
              </a:ext>
            </a:extLst>
          </p:cNvPr>
          <p:cNvSpPr>
            <a:spLocks noGrp="1"/>
          </p:cNvSpPr>
          <p:nvPr/>
        </p:nvSpPr>
        <p:spPr>
          <a:xfrm>
            <a:off x="8039100" y="2438400"/>
            <a:ext cx="1352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D4474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D44747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E7268FD-AF66-4616-82D2-C8AE583346C3}"/>
              </a:ext>
            </a:extLst>
          </p:cNvPr>
          <p:cNvSpPr>
            <a:spLocks noGrp="1"/>
          </p:cNvSpPr>
          <p:nvPr/>
        </p:nvSpPr>
        <p:spPr>
          <a:xfrm>
            <a:off x="8039100" y="2781300"/>
            <a:ext cx="1352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center-hit frames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D9EFB02-D943-4827-9D6B-4240D1419BE3}"/>
              </a:ext>
            </a:extLst>
          </p:cNvPr>
          <p:cNvSpPr>
            <a:spLocks noGrp="1"/>
          </p:cNvSpPr>
          <p:nvPr/>
        </p:nvSpPr>
        <p:spPr>
          <a:xfrm>
            <a:off x="1000125" y="3781425"/>
            <a:ext cx="66675" cy="6667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48E859B-20DD-4E89-BDB1-0DAD105B7A4B}"/>
              </a:ext>
            </a:extLst>
          </p:cNvPr>
          <p:cNvSpPr>
            <a:spLocks noGrp="1"/>
          </p:cNvSpPr>
          <p:nvPr/>
        </p:nvSpPr>
        <p:spPr>
          <a:xfrm>
            <a:off x="1190625" y="3714750"/>
            <a:ext cx="838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선택 시퀀스 5개, 각 4 frame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07545A6-838D-4A2E-A907-4CB935EC5E4D}"/>
              </a:ext>
            </a:extLst>
          </p:cNvPr>
          <p:cNvSpPr>
            <a:spLocks noGrp="1"/>
          </p:cNvSpPr>
          <p:nvPr/>
        </p:nvSpPr>
        <p:spPr>
          <a:xfrm>
            <a:off x="1000125" y="4181475"/>
            <a:ext cx="66675" cy="6667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9F10982-6EF8-43FE-97FA-0B2FEDCA793F}"/>
              </a:ext>
            </a:extLst>
          </p:cNvPr>
          <p:cNvSpPr>
            <a:spLocks noGrp="1"/>
          </p:cNvSpPr>
          <p:nvPr/>
        </p:nvSpPr>
        <p:spPr>
          <a:xfrm>
            <a:off x="1190625" y="4114800"/>
            <a:ext cx="838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CARRADA class는 pedestrian/cyclist/car라 GA-YOLO real/ghost와 직접 혼합하지 않음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0624439-BE5D-4BAF-92D5-F6FB8238CF27}"/>
              </a:ext>
            </a:extLst>
          </p:cNvPr>
          <p:cNvSpPr>
            <a:spLocks noGrp="1"/>
          </p:cNvSpPr>
          <p:nvPr/>
        </p:nvSpPr>
        <p:spPr>
          <a:xfrm>
            <a:off x="1000125" y="4581525"/>
            <a:ext cx="66675" cy="6667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2B8B715-8746-4D53-B624-CBCD7EAF83EB}"/>
              </a:ext>
            </a:extLst>
          </p:cNvPr>
          <p:cNvSpPr>
            <a:spLocks noGrp="1"/>
          </p:cNvSpPr>
          <p:nvPr/>
        </p:nvSpPr>
        <p:spPr>
          <a:xfrm>
            <a:off x="1190625" y="4514850"/>
            <a:ext cx="838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ghost precision/recall은 계산하지 않고 정성 이미지로 domain gap 확인</a:t>
            </a:r>
          </a:p>
        </p:txBody>
      </p:sp>
    </p:spTree>
    <p:extLst>
      <p:ext uri="{BB962C8B-B14F-4D97-AF65-F5344CB8AC3E}">
        <p14:creationId xmlns:p14="http://schemas.microsoft.com/office/powerpoint/2010/main" val="652706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5032FEA4-15B1-4C8A-93D6-0036C3D4C3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266700"/>
            <a:ext cx="419100" cy="4191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39824" y="266700"/>
            <a:ext cx="1961002" cy="4572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4B72969-763C-468B-8BD3-D0CA5F04D5B4}"/>
              </a:ext>
            </a:extLst>
          </p:cNvPr>
          <p:cNvSpPr>
            <a:spLocks noGrp="1"/>
          </p:cNvSpPr>
          <p:nvPr/>
        </p:nvSpPr>
        <p:spPr>
          <a:xfrm>
            <a:off x="971550" y="371475"/>
            <a:ext cx="409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Ghost-Aware YOLO / FMCW RD Map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9BD6BF8-8BF6-4963-8A5E-AA17BAC9A6B0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11125200" cy="9525"/>
          </a:xfrm>
          <a:prstGeom prst="rect">
            <a:avLst/>
          </a:prstGeom>
          <a:solidFill>
            <a:srgbClr val="CAD7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42FFE56-15AC-446F-9C08-E8A4FAAAB0AB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95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SATECS RADAR LAB · Korea Aerospace University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D473CAF-29A2-4126-A6FE-D9608FCB5DE3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438C2F-A3D1-4E3A-8C10-C537C02338E3}"/>
              </a:ext>
            </a:extLst>
          </p:cNvPr>
          <p:cNvSpPr>
            <a:spLocks noGrp="1"/>
          </p:cNvSpPr>
          <p:nvPr/>
        </p:nvSpPr>
        <p:spPr>
          <a:xfrm>
            <a:off x="590550" y="952500"/>
            <a:ext cx="85725" cy="8572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5A8ABB-56C7-4CA4-AFC9-05C501D68CBE}"/>
              </a:ext>
            </a:extLst>
          </p:cNvPr>
          <p:cNvSpPr>
            <a:spLocks noGrp="1"/>
          </p:cNvSpPr>
          <p:nvPr/>
        </p:nvSpPr>
        <p:spPr>
          <a:xfrm>
            <a:off x="800100" y="895350"/>
            <a:ext cx="3619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CARRADA QUALITATIVE SAMPLES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CCBCDAD-9223-473D-ACBD-86B6F02A1B4F}"/>
              </a:ext>
            </a:extLst>
          </p:cNvPr>
          <p:cNvSpPr>
            <a:spLocks noGrp="1"/>
          </p:cNvSpPr>
          <p:nvPr/>
        </p:nvSpPr>
        <p:spPr>
          <a:xfrm>
            <a:off x="590550" y="1181100"/>
            <a:ext cx="9906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시뮬레이터 학습 모델은 실제 RD map에서 일부 real 후보만 약하게 포착했다.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E28507F-CA50-47BB-819C-7FC3137FDB4B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2457450" cy="2457450"/>
          </a:xfrm>
          <a:prstGeom prst="rect">
            <a:avLst/>
          </a:prstGeom>
          <a:solidFill>
            <a:srgbClr val="F1F5FA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23900" y="2190750"/>
            <a:ext cx="2381250" cy="238125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D6528E9F-B37C-4CB1-8449-B7ECA07FC11A}"/>
              </a:ext>
            </a:extLst>
          </p:cNvPr>
          <p:cNvSpPr>
            <a:spLocks noGrp="1"/>
          </p:cNvSpPr>
          <p:nvPr/>
        </p:nvSpPr>
        <p:spPr>
          <a:xfrm>
            <a:off x="3448050" y="2152650"/>
            <a:ext cx="2457450" cy="2457450"/>
          </a:xfrm>
          <a:prstGeom prst="rect">
            <a:avLst/>
          </a:prstGeom>
          <a:solidFill>
            <a:srgbClr val="F1F5FA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486150" y="2190750"/>
            <a:ext cx="2381250" cy="238125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F1E96A54-8B64-455D-AC21-EC723DBE27B2}"/>
              </a:ext>
            </a:extLst>
          </p:cNvPr>
          <p:cNvSpPr>
            <a:spLocks noGrp="1"/>
          </p:cNvSpPr>
          <p:nvPr/>
        </p:nvSpPr>
        <p:spPr>
          <a:xfrm>
            <a:off x="6210300" y="2152650"/>
            <a:ext cx="2457450" cy="2457450"/>
          </a:xfrm>
          <a:prstGeom prst="rect">
            <a:avLst/>
          </a:prstGeom>
          <a:solidFill>
            <a:srgbClr val="F1F5FA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248400" y="2190750"/>
            <a:ext cx="2381250" cy="238125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52994889-16CF-4338-B82C-076F89D2DD40}"/>
              </a:ext>
            </a:extLst>
          </p:cNvPr>
          <p:cNvSpPr>
            <a:spLocks noGrp="1"/>
          </p:cNvSpPr>
          <p:nvPr/>
        </p:nvSpPr>
        <p:spPr>
          <a:xfrm>
            <a:off x="8972550" y="2152650"/>
            <a:ext cx="2457450" cy="2457450"/>
          </a:xfrm>
          <a:prstGeom prst="rect">
            <a:avLst/>
          </a:prstGeom>
          <a:solidFill>
            <a:srgbClr val="F1F5FA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9010650" y="2190750"/>
            <a:ext cx="2381250" cy="238125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2E9BC5B1-1E06-404C-BF99-C3AA03110034}"/>
              </a:ext>
            </a:extLst>
          </p:cNvPr>
          <p:cNvSpPr>
            <a:spLocks noGrp="1"/>
          </p:cNvSpPr>
          <p:nvPr/>
        </p:nvSpPr>
        <p:spPr>
          <a:xfrm>
            <a:off x="876300" y="5286375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결론: V5.0은 성공 수치 보고가 아니라 domain gap 확인 단계다. 실제 데이터 전이는 intensity scale, bbox geometry, class semantics를 별도 보정해야 한다.</a:t>
            </a:r>
          </a:p>
        </p:txBody>
      </p:sp>
    </p:spTree>
    <p:extLst>
      <p:ext uri="{BB962C8B-B14F-4D97-AF65-F5344CB8AC3E}">
        <p14:creationId xmlns:p14="http://schemas.microsoft.com/office/powerpoint/2010/main" val="649314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59D5E8D9-285C-4543-94DB-B37321C844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266700"/>
            <a:ext cx="419100" cy="4191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39824" y="266700"/>
            <a:ext cx="1961002" cy="4572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EB8523E6-FA56-4F80-8882-F6F1B7726F10}"/>
              </a:ext>
            </a:extLst>
          </p:cNvPr>
          <p:cNvSpPr>
            <a:spLocks noGrp="1"/>
          </p:cNvSpPr>
          <p:nvPr/>
        </p:nvSpPr>
        <p:spPr>
          <a:xfrm>
            <a:off x="971550" y="371475"/>
            <a:ext cx="409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Ghost-Aware YOLO / FMCW RD Map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F4AB7CC-98D9-413A-A396-9CDABF74648A}"/>
              </a:ext>
            </a:extLst>
          </p:cNvPr>
          <p:cNvSpPr>
            <a:spLocks noGrp="1"/>
          </p:cNvSpPr>
          <p:nvPr/>
        </p:nvSpPr>
        <p:spPr>
          <a:xfrm>
            <a:off x="419100" y="6324600"/>
            <a:ext cx="11125200" cy="9525"/>
          </a:xfrm>
          <a:prstGeom prst="rect">
            <a:avLst/>
          </a:prstGeom>
          <a:solidFill>
            <a:srgbClr val="CAD7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374C1B9-2D00-40E1-B3B1-B85CBC3EEDAC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495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SATECS RADAR LAB · Korea Aerospace University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F3ABE1E-034D-468B-9575-C4E0D40C003E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BD1D30C-D2F0-4798-8C56-6A78C6AEEEF5}"/>
              </a:ext>
            </a:extLst>
          </p:cNvPr>
          <p:cNvSpPr>
            <a:spLocks noGrp="1"/>
          </p:cNvSpPr>
          <p:nvPr/>
        </p:nvSpPr>
        <p:spPr>
          <a:xfrm>
            <a:off x="590550" y="952500"/>
            <a:ext cx="85725" cy="8572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5633B37-4CBA-430F-8B24-6439CD17F489}"/>
              </a:ext>
            </a:extLst>
          </p:cNvPr>
          <p:cNvSpPr>
            <a:spLocks noGrp="1"/>
          </p:cNvSpPr>
          <p:nvPr/>
        </p:nvSpPr>
        <p:spPr>
          <a:xfrm>
            <a:off x="800100" y="895350"/>
            <a:ext cx="3619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627086"/>
                </a:solidFill>
                <a:latin typeface="Malgun Gothic"/>
                <a:ea typeface="Malgun Gothic"/>
                <a:cs typeface="Malgun Gothic"/>
              </a:rPr>
              <a:t>FINAL STATUS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433C472-414B-40F4-9A26-87223D17E59A}"/>
              </a:ext>
            </a:extLst>
          </p:cNvPr>
          <p:cNvSpPr>
            <a:spLocks noGrp="1"/>
          </p:cNvSpPr>
          <p:nvPr/>
        </p:nvSpPr>
        <p:spPr>
          <a:xfrm>
            <a:off x="590550" y="1181100"/>
            <a:ext cx="9906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현재 최종 결론은 ‘시뮬레이터 내 성능은 강하지만 실제 데이터 전이는 아직 정성 확인 단계’다.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8D9D8BB-35EF-43F8-90A0-0AA409FAE91F}"/>
              </a:ext>
            </a:extLst>
          </p:cNvPr>
          <p:cNvSpPr>
            <a:spLocks noGrp="1"/>
          </p:cNvSpPr>
          <p:nvPr/>
        </p:nvSpPr>
        <p:spPr>
          <a:xfrm>
            <a:off x="857250" y="2209800"/>
            <a:ext cx="66675" cy="6667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0F6DC78-D136-4E3B-B86E-6949C0889861}"/>
              </a:ext>
            </a:extLst>
          </p:cNvPr>
          <p:cNvSpPr>
            <a:spLocks noGrp="1"/>
          </p:cNvSpPr>
          <p:nvPr/>
        </p:nvSpPr>
        <p:spPr>
          <a:xfrm>
            <a:off x="1047750" y="2143125"/>
            <a:ext cx="866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V1~V2: 물리 기반 RD/ghost 시뮬레이터 검산 완료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4B22CC3-FD3A-45AC-9692-5D897869CD49}"/>
              </a:ext>
            </a:extLst>
          </p:cNvPr>
          <p:cNvSpPr>
            <a:spLocks noGrp="1"/>
          </p:cNvSpPr>
          <p:nvPr/>
        </p:nvSpPr>
        <p:spPr>
          <a:xfrm>
            <a:off x="857250" y="2638425"/>
            <a:ext cx="66675" cy="6667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3577F45-202E-482D-8C7C-45DF1157595A}"/>
              </a:ext>
            </a:extLst>
          </p:cNvPr>
          <p:cNvSpPr>
            <a:spLocks noGrp="1"/>
          </p:cNvSpPr>
          <p:nvPr/>
        </p:nvSpPr>
        <p:spPr>
          <a:xfrm>
            <a:off x="1047750" y="2571750"/>
            <a:ext cx="866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V3: 2000장 YOLO 데이터셋과 snap-to-peak 라벨링 완료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0ACB53C-1C46-44D8-B588-7349AB524607}"/>
              </a:ext>
            </a:extLst>
          </p:cNvPr>
          <p:cNvSpPr>
            <a:spLocks noGrp="1"/>
          </p:cNvSpPr>
          <p:nvPr/>
        </p:nvSpPr>
        <p:spPr>
          <a:xfrm>
            <a:off x="857250" y="3067050"/>
            <a:ext cx="66675" cy="6667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2402496-D496-416C-A249-861A29879E8F}"/>
              </a:ext>
            </a:extLst>
          </p:cNvPr>
          <p:cNvSpPr>
            <a:spLocks noGrp="1"/>
          </p:cNvSpPr>
          <p:nvPr/>
        </p:nvSpPr>
        <p:spPr>
          <a:xfrm>
            <a:off x="1047750" y="3000375"/>
            <a:ext cx="866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V4.1: grayscale + YOLOv8n best, simulator mAP50-95=0.912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0055FC1-ACF4-4EEB-8791-811957371130}"/>
              </a:ext>
            </a:extLst>
          </p:cNvPr>
          <p:cNvSpPr>
            <a:spLocks noGrp="1"/>
          </p:cNvSpPr>
          <p:nvPr/>
        </p:nvSpPr>
        <p:spPr>
          <a:xfrm>
            <a:off x="857250" y="3495675"/>
            <a:ext cx="66675" cy="6667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EC54EBC-6E67-46B9-91C0-7C4AC2559D42}"/>
              </a:ext>
            </a:extLst>
          </p:cNvPr>
          <p:cNvSpPr>
            <a:spLocks noGrp="1"/>
          </p:cNvSpPr>
          <p:nvPr/>
        </p:nvSpPr>
        <p:spPr>
          <a:xfrm>
            <a:off x="1047750" y="3429000"/>
            <a:ext cx="866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V4.3: NMS sweep 결과 missed ghost 원인은 NMS만으로 설명 어려움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D12E1D3-F631-43AD-85CC-C692F8C85D7F}"/>
              </a:ext>
            </a:extLst>
          </p:cNvPr>
          <p:cNvSpPr>
            <a:spLocks noGrp="1"/>
          </p:cNvSpPr>
          <p:nvPr/>
        </p:nvSpPr>
        <p:spPr>
          <a:xfrm>
            <a:off x="857250" y="3924300"/>
            <a:ext cx="66675" cy="6667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A9039CE-D41F-48FE-9533-AFC2841E0C71}"/>
              </a:ext>
            </a:extLst>
          </p:cNvPr>
          <p:cNvSpPr>
            <a:spLocks noGrp="1"/>
          </p:cNvSpPr>
          <p:nvPr/>
        </p:nvSpPr>
        <p:spPr>
          <a:xfrm>
            <a:off x="1047750" y="3857625"/>
            <a:ext cx="866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V4.6: 2x2 bbox 재학습은 baseline보다 낮아 대체안으로 보류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AE57767-EEC1-4849-A6D8-959A9A457990}"/>
              </a:ext>
            </a:extLst>
          </p:cNvPr>
          <p:cNvSpPr>
            <a:spLocks noGrp="1"/>
          </p:cNvSpPr>
          <p:nvPr/>
        </p:nvSpPr>
        <p:spPr>
          <a:xfrm>
            <a:off x="857250" y="4352925"/>
            <a:ext cx="66675" cy="66675"/>
          </a:xfrm>
          <a:prstGeom prst="rect">
            <a:avLst/>
          </a:prstGeom>
          <a:solidFill>
            <a:srgbClr val="1E6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84266A1-4197-4F75-BD0B-AE80F0BDF577}"/>
              </a:ext>
            </a:extLst>
          </p:cNvPr>
          <p:cNvSpPr>
            <a:spLocks noGrp="1"/>
          </p:cNvSpPr>
          <p:nvPr/>
        </p:nvSpPr>
        <p:spPr>
          <a:xfrm>
            <a:off x="1047750" y="4286250"/>
            <a:ext cx="866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V5.0-light: CARRADA 20 frames 정성평가, near-real IoU 6 frames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4B7D396-5279-4924-8ACB-0185A5A7DFF0}"/>
              </a:ext>
            </a:extLst>
          </p:cNvPr>
          <p:cNvSpPr>
            <a:spLocks noGrp="1"/>
          </p:cNvSpPr>
          <p:nvPr/>
        </p:nvSpPr>
        <p:spPr>
          <a:xfrm>
            <a:off x="857250" y="5381625"/>
            <a:ext cx="9144000" cy="514350"/>
          </a:xfrm>
          <a:prstGeom prst="rect">
            <a:avLst/>
          </a:prstGeom>
          <a:solidFill>
            <a:srgbClr val="EAF4FF"/>
          </a:solidFill>
          <a:ln w="9525">
            <a:solidFill>
              <a:srgbClr val="CAD7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76D3550-F930-4F4C-A805-4B816F2E2B97}"/>
              </a:ext>
            </a:extLst>
          </p:cNvPr>
          <p:cNvSpPr>
            <a:spLocks noGrp="1"/>
          </p:cNvSpPr>
          <p:nvPr/>
        </p:nvSpPr>
        <p:spPr>
          <a:xfrm>
            <a:off x="1066800" y="5543550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1243A"/>
                </a:solidFill>
                <a:latin typeface="Malgun Gothic"/>
                <a:ea typeface="Malgun Gothic"/>
                <a:cs typeface="Malgun Gothic"/>
              </a:rPr>
              <a:t>다음 작업: CARRADA 전처리/scale 보정, real/ghost class semantics 분리, V4.1 baseline 유지 조건에서 실패 scene 중심 개선 실험.</a:t>
            </a:r>
          </a:p>
        </p:txBody>
      </p:sp>
    </p:spTree>
    <p:extLst>
      <p:ext uri="{BB962C8B-B14F-4D97-AF65-F5344CB8AC3E}">
        <p14:creationId xmlns:p14="http://schemas.microsoft.com/office/powerpoint/2010/main" val="174801844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1149</Words>
  <Application>Microsoft Office PowerPoint</Application>
  <DocSecurity>0</DocSecurity>
  <PresentationFormat>와이드스크린</PresentationFormat>
  <Paragraphs>240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Malgun Gothic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김경민(***3***012)</cp:lastModifiedBy>
  <cp:revision>1</cp:revision>
  <dcterms:created xsi:type="dcterms:W3CDTF">2026-05-26T02:00:19Z</dcterms:created>
  <dcterms:modified xsi:type="dcterms:W3CDTF">2026-05-26T05:27:48Z</dcterms:modified>
</cp:coreProperties>
</file>